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ptos Bold" panose="020B0604020202020204" charset="0"/>
      <p:regular r:id="rId14"/>
    </p:embeddedFont>
    <p:embeddedFont>
      <p:font typeface="Calibri (MS) Bold" panose="020B0604020202020204" charset="0"/>
      <p:regular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6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77657" y="960872"/>
            <a:ext cx="3431667" cy="1647158"/>
            <a:chOff x="0" y="0"/>
            <a:chExt cx="4575556" cy="21962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75556" cy="2196211"/>
            </a:xfrm>
            <a:custGeom>
              <a:avLst/>
              <a:gdLst/>
              <a:ahLst/>
              <a:cxnLst/>
              <a:rect l="l" t="t" r="r" b="b"/>
              <a:pathLst>
                <a:path w="4575556" h="2196211">
                  <a:moveTo>
                    <a:pt x="0" y="366014"/>
                  </a:moveTo>
                  <a:cubicBezTo>
                    <a:pt x="0" y="163830"/>
                    <a:pt x="163830" y="0"/>
                    <a:pt x="366014" y="0"/>
                  </a:cubicBezTo>
                  <a:lnTo>
                    <a:pt x="4209542" y="0"/>
                  </a:lnTo>
                  <a:cubicBezTo>
                    <a:pt x="4411726" y="0"/>
                    <a:pt x="4575556" y="163830"/>
                    <a:pt x="4575556" y="366014"/>
                  </a:cubicBezTo>
                  <a:lnTo>
                    <a:pt x="4575556" y="1830197"/>
                  </a:lnTo>
                  <a:cubicBezTo>
                    <a:pt x="4575556" y="2032381"/>
                    <a:pt x="4411726" y="2196211"/>
                    <a:pt x="4209542" y="2196211"/>
                  </a:cubicBezTo>
                  <a:lnTo>
                    <a:pt x="366014" y="2196211"/>
                  </a:lnTo>
                  <a:cubicBezTo>
                    <a:pt x="163830" y="2196338"/>
                    <a:pt x="0" y="2032381"/>
                    <a:pt x="0" y="1830197"/>
                  </a:cubicBezTo>
                  <a:close/>
                </a:path>
              </a:pathLst>
            </a:custGeom>
            <a:solidFill>
              <a:srgbClr val="2B68B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687598" y="3019882"/>
            <a:ext cx="2333530" cy="2333530"/>
            <a:chOff x="0" y="0"/>
            <a:chExt cx="3111373" cy="311137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11373" cy="3111373"/>
            </a:xfrm>
            <a:custGeom>
              <a:avLst/>
              <a:gdLst/>
              <a:ahLst/>
              <a:cxnLst/>
              <a:rect l="l" t="t" r="r" b="b"/>
              <a:pathLst>
                <a:path w="3111373" h="3111373">
                  <a:moveTo>
                    <a:pt x="0" y="518541"/>
                  </a:moveTo>
                  <a:cubicBezTo>
                    <a:pt x="0" y="232156"/>
                    <a:pt x="232156" y="0"/>
                    <a:pt x="518541" y="0"/>
                  </a:cubicBezTo>
                  <a:lnTo>
                    <a:pt x="2592832" y="0"/>
                  </a:lnTo>
                  <a:cubicBezTo>
                    <a:pt x="2879217" y="0"/>
                    <a:pt x="3111373" y="232156"/>
                    <a:pt x="3111373" y="518541"/>
                  </a:cubicBezTo>
                  <a:lnTo>
                    <a:pt x="3111373" y="2592832"/>
                  </a:lnTo>
                  <a:cubicBezTo>
                    <a:pt x="3111373" y="2879217"/>
                    <a:pt x="2879217" y="3111373"/>
                    <a:pt x="2592832" y="3111373"/>
                  </a:cubicBezTo>
                  <a:lnTo>
                    <a:pt x="518541" y="3111373"/>
                  </a:lnTo>
                  <a:cubicBezTo>
                    <a:pt x="232156" y="3111373"/>
                    <a:pt x="0" y="2879217"/>
                    <a:pt x="0" y="2592832"/>
                  </a:cubicBezTo>
                  <a:close/>
                </a:path>
              </a:pathLst>
            </a:custGeom>
            <a:solidFill>
              <a:srgbClr val="1A9791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216784" y="6039755"/>
            <a:ext cx="2745296" cy="1647158"/>
            <a:chOff x="0" y="0"/>
            <a:chExt cx="3660394" cy="21962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60394" cy="2196211"/>
            </a:xfrm>
            <a:custGeom>
              <a:avLst/>
              <a:gdLst/>
              <a:ahLst/>
              <a:cxnLst/>
              <a:rect l="l" t="t" r="r" b="b"/>
              <a:pathLst>
                <a:path w="3660394" h="2196211">
                  <a:moveTo>
                    <a:pt x="0" y="366014"/>
                  </a:moveTo>
                  <a:cubicBezTo>
                    <a:pt x="0" y="163830"/>
                    <a:pt x="163830" y="0"/>
                    <a:pt x="366014" y="0"/>
                  </a:cubicBezTo>
                  <a:lnTo>
                    <a:pt x="3294380" y="0"/>
                  </a:lnTo>
                  <a:cubicBezTo>
                    <a:pt x="3496564" y="0"/>
                    <a:pt x="3660394" y="163830"/>
                    <a:pt x="3660394" y="366014"/>
                  </a:cubicBezTo>
                  <a:lnTo>
                    <a:pt x="3660394" y="1830197"/>
                  </a:lnTo>
                  <a:cubicBezTo>
                    <a:pt x="3660394" y="2032381"/>
                    <a:pt x="3496564" y="2196211"/>
                    <a:pt x="3294380" y="2196211"/>
                  </a:cubicBezTo>
                  <a:lnTo>
                    <a:pt x="366014" y="2196211"/>
                  </a:lnTo>
                  <a:cubicBezTo>
                    <a:pt x="163830" y="2196338"/>
                    <a:pt x="0" y="2032381"/>
                    <a:pt x="0" y="1830197"/>
                  </a:cubicBezTo>
                  <a:close/>
                </a:path>
              </a:pathLst>
            </a:custGeom>
            <a:solidFill>
              <a:srgbClr val="F29F38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239926" y="1733369"/>
            <a:ext cx="10697804" cy="241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PERULANGAN DAN</a:t>
            </a:r>
          </a:p>
          <a:p>
            <a:pPr algn="l">
              <a:lnSpc>
                <a:spcPts val="6124"/>
              </a:lnSpc>
            </a:pPr>
            <a:r>
              <a:rPr lang="en-US" sz="5103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PENCABANGAN IF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08554" y="4635027"/>
            <a:ext cx="10148735" cy="1162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1"/>
              </a:lnSpc>
            </a:pPr>
            <a:r>
              <a:rPr lang="en-US" sz="3152">
                <a:solidFill>
                  <a:srgbClr val="BED3EC"/>
                </a:solidFill>
                <a:latin typeface="Aptos"/>
                <a:ea typeface="Aptos"/>
                <a:cs typeface="Aptos"/>
                <a:sym typeface="Aptos"/>
              </a:rPr>
              <a:t>Makalah presentasi pemrograman dasar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08554" y="7792174"/>
            <a:ext cx="10286009" cy="73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0" dirty="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Nama: </a:t>
            </a:r>
            <a:r>
              <a:rPr lang="id-ID" sz="2400" dirty="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Tri agung wahyu aji</a:t>
            </a:r>
            <a:endParaRPr lang="en-US" sz="2400" dirty="0">
              <a:solidFill>
                <a:srgbClr val="FFFFFF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881"/>
              </a:lnSpc>
            </a:pPr>
            <a:r>
              <a:rPr lang="id-ID" sz="2400" dirty="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Prodi: Tehnik informatika</a:t>
            </a:r>
            <a:endParaRPr lang="en-US" sz="2400" dirty="0">
              <a:solidFill>
                <a:srgbClr val="FFFFFF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08554" y="9439380"/>
            <a:ext cx="10835078" cy="270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BED3EC"/>
                </a:solidFill>
                <a:latin typeface="Aptos"/>
                <a:ea typeface="Aptos"/>
                <a:cs typeface="Aptos"/>
                <a:sym typeface="Aptos"/>
              </a:rPr>
              <a:t>Materi • Sintaks • Flowchart • Pseudocode •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11" cy="1125569"/>
            <a:chOff x="0" y="0"/>
            <a:chExt cx="24402415" cy="15007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6264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54971" y="178451"/>
            <a:ext cx="16334804" cy="754971"/>
            <a:chOff x="0" y="0"/>
            <a:chExt cx="21779738" cy="10066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779737" cy="1006602"/>
            </a:xfrm>
            <a:custGeom>
              <a:avLst/>
              <a:gdLst/>
              <a:ahLst/>
              <a:cxnLst/>
              <a:rect l="l" t="t" r="r" b="b"/>
              <a:pathLst>
                <a:path w="21779737" h="1006602">
                  <a:moveTo>
                    <a:pt x="0" y="0"/>
                  </a:moveTo>
                  <a:lnTo>
                    <a:pt x="21779737" y="0"/>
                  </a:lnTo>
                  <a:lnTo>
                    <a:pt x="21779737" y="1006602"/>
                  </a:lnTo>
                  <a:lnTo>
                    <a:pt x="0" y="10066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71300" b="-37130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54971" y="178451"/>
            <a:ext cx="16334804" cy="754971"/>
            <a:chOff x="0" y="0"/>
            <a:chExt cx="21779738" cy="10066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9739" cy="1006628"/>
            </a:xfrm>
            <a:custGeom>
              <a:avLst/>
              <a:gdLst/>
              <a:ahLst/>
              <a:cxnLst/>
              <a:rect l="l" t="t" r="r" b="b"/>
              <a:pathLst>
                <a:path w="21779739" h="1006628">
                  <a:moveTo>
                    <a:pt x="0" y="0"/>
                  </a:moveTo>
                  <a:lnTo>
                    <a:pt x="21779739" y="0"/>
                  </a:lnTo>
                  <a:lnTo>
                    <a:pt x="21779739" y="1006628"/>
                  </a:lnTo>
                  <a:lnTo>
                    <a:pt x="0" y="1006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1584" b="-371584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779738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3"/>
                </a:lnSpc>
              </a:pPr>
              <a:r>
                <a:rPr lang="en-US" sz="3903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Tujuan dan Peta Materi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996152" y="283654"/>
            <a:ext cx="1500902" cy="475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 b="1">
                <a:solidFill>
                  <a:srgbClr val="B4D3F4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4024" y="1634195"/>
            <a:ext cx="16051235" cy="662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2"/>
              </a:lnSpc>
            </a:pPr>
            <a:r>
              <a:rPr lang="en-US" sz="3302" b="1">
                <a:solidFill>
                  <a:srgbClr val="2B68B3"/>
                </a:solidFill>
                <a:latin typeface="Aptos Bold"/>
                <a:ea typeface="Aptos Bold"/>
                <a:cs typeface="Aptos Bold"/>
                <a:sym typeface="Aptos Bold"/>
              </a:rPr>
              <a:t>Setelah presentasi, kita diharapkan dapat: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6502" y="2653798"/>
            <a:ext cx="15584567" cy="6085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26303E"/>
                </a:solidFill>
                <a:latin typeface="Aptos"/>
                <a:ea typeface="Aptos"/>
                <a:cs typeface="Aptos"/>
                <a:sym typeface="Aptos"/>
              </a:rPr>
              <a:t>•  Menjelaskan pengertian dan tujuan perulangan (looping).</a:t>
            </a:r>
          </a:p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26303E"/>
                </a:solidFill>
                <a:latin typeface="Aptos"/>
                <a:ea typeface="Aptos"/>
                <a:cs typeface="Aptos"/>
                <a:sym typeface="Aptos"/>
              </a:rPr>
              <a:t>•  Mengenali sintaks dasar perulangan dan pencabangan IF.</a:t>
            </a:r>
          </a:p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26303E"/>
                </a:solidFill>
                <a:latin typeface="Aptos"/>
                <a:ea typeface="Aptos"/>
                <a:cs typeface="Aptos"/>
                <a:sym typeface="Aptos"/>
              </a:rPr>
              <a:t>•  Memahami alur program melalui flowchart dan pseudocode.</a:t>
            </a:r>
          </a:p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26303E"/>
                </a:solidFill>
                <a:latin typeface="Aptos"/>
                <a:ea typeface="Aptos"/>
                <a:cs typeface="Aptos"/>
                <a:sym typeface="Aptos"/>
              </a:rPr>
              <a:t>•  Membaca contoh program serta menjelaskan tiap barisnya.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8123" y="9804683"/>
            <a:ext cx="16600303" cy="22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Perulangan dan Pencabangan IF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11" cy="1125569"/>
            <a:chOff x="0" y="0"/>
            <a:chExt cx="24402415" cy="15007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6264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54971" y="178451"/>
            <a:ext cx="16334804" cy="754971"/>
            <a:chOff x="0" y="0"/>
            <a:chExt cx="21779738" cy="10066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779737" cy="1006602"/>
            </a:xfrm>
            <a:custGeom>
              <a:avLst/>
              <a:gdLst/>
              <a:ahLst/>
              <a:cxnLst/>
              <a:rect l="l" t="t" r="r" b="b"/>
              <a:pathLst>
                <a:path w="21779737" h="1006602">
                  <a:moveTo>
                    <a:pt x="0" y="0"/>
                  </a:moveTo>
                  <a:lnTo>
                    <a:pt x="21779737" y="0"/>
                  </a:lnTo>
                  <a:lnTo>
                    <a:pt x="21779737" y="1006602"/>
                  </a:lnTo>
                  <a:lnTo>
                    <a:pt x="0" y="10066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71300" b="-37130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54971" y="178451"/>
            <a:ext cx="16334804" cy="754971"/>
            <a:chOff x="0" y="0"/>
            <a:chExt cx="21779738" cy="10066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9739" cy="1006628"/>
            </a:xfrm>
            <a:custGeom>
              <a:avLst/>
              <a:gdLst/>
              <a:ahLst/>
              <a:cxnLst/>
              <a:rect l="l" t="t" r="r" b="b"/>
              <a:pathLst>
                <a:path w="21779739" h="1006628">
                  <a:moveTo>
                    <a:pt x="0" y="0"/>
                  </a:moveTo>
                  <a:lnTo>
                    <a:pt x="21779739" y="0"/>
                  </a:lnTo>
                  <a:lnTo>
                    <a:pt x="21779739" y="1006628"/>
                  </a:lnTo>
                  <a:lnTo>
                    <a:pt x="0" y="1006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1584" b="-371584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779738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3"/>
                </a:lnSpc>
              </a:pPr>
              <a:r>
                <a:rPr lang="en-US" sz="3903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1. Pengertian Perulangan dan Pencabangan IF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996152" y="283654"/>
            <a:ext cx="1500902" cy="475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 b="1">
                <a:solidFill>
                  <a:srgbClr val="B4D3F4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2652" y="1683782"/>
            <a:ext cx="7677931" cy="6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1"/>
              </a:lnSpc>
            </a:pPr>
            <a:r>
              <a:rPr lang="en-US" sz="3152" b="1">
                <a:solidFill>
                  <a:srgbClr val="1A9791"/>
                </a:solidFill>
                <a:latin typeface="Aptos Bold"/>
                <a:ea typeface="Aptos Bold"/>
                <a:cs typeface="Aptos Bold"/>
                <a:sym typeface="Aptos Bold"/>
              </a:rPr>
              <a:t>PERULANGAN (LOOPING)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1289" y="2576017"/>
            <a:ext cx="7609294" cy="2740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26303E"/>
                </a:solidFill>
                <a:latin typeface="Aptos"/>
                <a:ea typeface="Aptos"/>
                <a:cs typeface="Aptos"/>
                <a:sym typeface="Aptos"/>
              </a:rPr>
              <a:t>Perulangan adalah struktur program untuk menjalankan instruksi berulang kali selama kondisi tertentu terpenuhi atau selama jumlah pengulangan belum habis.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44593" y="1683782"/>
            <a:ext cx="7540657" cy="6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1"/>
              </a:lnSpc>
            </a:pPr>
            <a:r>
              <a:rPr lang="en-US" sz="3152" b="1">
                <a:solidFill>
                  <a:srgbClr val="2B68B3"/>
                </a:solidFill>
                <a:latin typeface="Aptos Bold"/>
                <a:ea typeface="Aptos Bold"/>
                <a:cs typeface="Aptos Bold"/>
                <a:sym typeface="Aptos Bold"/>
              </a:rPr>
              <a:t>PENCABANGAN IF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13221" y="2576017"/>
            <a:ext cx="7472029" cy="2740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26303E"/>
                </a:solidFill>
                <a:latin typeface="Aptos"/>
                <a:ea typeface="Aptos"/>
                <a:cs typeface="Aptos"/>
                <a:sym typeface="Aptos"/>
              </a:rPr>
              <a:t>IF adalah struktur keputusan yang memeriksa kondisi. Jika kondisi benar (True), program menjalankan perintah tertentu; jika salah (False), program dapat melewati atau memilih perintah lain.</a:t>
            </a:r>
          </a:p>
        </p:txBody>
      </p:sp>
      <p:sp>
        <p:nvSpPr>
          <p:cNvPr id="14" name="Freeform 14"/>
          <p:cNvSpPr/>
          <p:nvPr/>
        </p:nvSpPr>
        <p:spPr>
          <a:xfrm>
            <a:off x="1154259" y="6164513"/>
            <a:ext cx="7506043" cy="1740846"/>
          </a:xfrm>
          <a:custGeom>
            <a:avLst/>
            <a:gdLst/>
            <a:ahLst/>
            <a:cxnLst/>
            <a:rect l="l" t="t" r="r" b="b"/>
            <a:pathLst>
              <a:path w="7506043" h="1740846">
                <a:moveTo>
                  <a:pt x="0" y="0"/>
                </a:moveTo>
                <a:lnTo>
                  <a:pt x="7506042" y="0"/>
                </a:lnTo>
                <a:lnTo>
                  <a:pt x="7506042" y="1740846"/>
                </a:lnTo>
                <a:lnTo>
                  <a:pt x="0" y="17408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514456" y="6446958"/>
            <a:ext cx="6717059" cy="407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550" b="1">
                <a:solidFill>
                  <a:srgbClr val="1A9791"/>
                </a:solidFill>
                <a:latin typeface="Aptos Bold"/>
                <a:ea typeface="Aptos Bold"/>
                <a:cs typeface="Aptos Bold"/>
                <a:sym typeface="Aptos Bold"/>
              </a:rPr>
              <a:t>Contoh looping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14456" y="7037203"/>
            <a:ext cx="6717059" cy="544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>
                <a:solidFill>
                  <a:srgbClr val="26303E"/>
                </a:solidFill>
                <a:latin typeface="Aptos"/>
                <a:ea typeface="Aptos"/>
                <a:cs typeface="Aptos"/>
                <a:sym typeface="Aptos"/>
              </a:rPr>
              <a:t>Menampilkan angka 1 sampai 5.</a:t>
            </a:r>
          </a:p>
        </p:txBody>
      </p:sp>
      <p:sp>
        <p:nvSpPr>
          <p:cNvPr id="17" name="Freeform 17"/>
          <p:cNvSpPr/>
          <p:nvPr/>
        </p:nvSpPr>
        <p:spPr>
          <a:xfrm>
            <a:off x="9527562" y="6164513"/>
            <a:ext cx="7506043" cy="1740846"/>
          </a:xfrm>
          <a:custGeom>
            <a:avLst/>
            <a:gdLst/>
            <a:ahLst/>
            <a:cxnLst/>
            <a:rect l="l" t="t" r="r" b="b"/>
            <a:pathLst>
              <a:path w="7506043" h="1740846">
                <a:moveTo>
                  <a:pt x="0" y="0"/>
                </a:moveTo>
                <a:lnTo>
                  <a:pt x="7506043" y="0"/>
                </a:lnTo>
                <a:lnTo>
                  <a:pt x="7506043" y="1740846"/>
                </a:lnTo>
                <a:lnTo>
                  <a:pt x="0" y="17408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9887760" y="6446958"/>
            <a:ext cx="6717059" cy="407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550" b="1">
                <a:solidFill>
                  <a:srgbClr val="2B68B3"/>
                </a:solidFill>
                <a:latin typeface="Aptos Bold"/>
                <a:ea typeface="Aptos Bold"/>
                <a:cs typeface="Aptos Bold"/>
                <a:sym typeface="Aptos Bold"/>
              </a:rPr>
              <a:t>Contoh IF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87760" y="7037203"/>
            <a:ext cx="6717059" cy="544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>
                <a:solidFill>
                  <a:srgbClr val="26303E"/>
                </a:solidFill>
                <a:latin typeface="Aptos"/>
                <a:ea typeface="Aptos"/>
                <a:cs typeface="Aptos"/>
                <a:sym typeface="Aptos"/>
              </a:rPr>
              <a:t>Memeriksa apakah nilai ≥ 75.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8123" y="9804683"/>
            <a:ext cx="16600303" cy="22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Perulangan dan Pencabangan IF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11" cy="1125569"/>
            <a:chOff x="0" y="0"/>
            <a:chExt cx="24402415" cy="15007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6264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54971" y="178451"/>
            <a:ext cx="16334804" cy="754971"/>
            <a:chOff x="0" y="0"/>
            <a:chExt cx="21779738" cy="10066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779737" cy="1006602"/>
            </a:xfrm>
            <a:custGeom>
              <a:avLst/>
              <a:gdLst/>
              <a:ahLst/>
              <a:cxnLst/>
              <a:rect l="l" t="t" r="r" b="b"/>
              <a:pathLst>
                <a:path w="21779737" h="1006602">
                  <a:moveTo>
                    <a:pt x="0" y="0"/>
                  </a:moveTo>
                  <a:lnTo>
                    <a:pt x="21779737" y="0"/>
                  </a:lnTo>
                  <a:lnTo>
                    <a:pt x="21779737" y="1006602"/>
                  </a:lnTo>
                  <a:lnTo>
                    <a:pt x="0" y="10066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71300" b="-37130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54971" y="178451"/>
            <a:ext cx="16334804" cy="754971"/>
            <a:chOff x="0" y="0"/>
            <a:chExt cx="21779738" cy="10066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9739" cy="1006628"/>
            </a:xfrm>
            <a:custGeom>
              <a:avLst/>
              <a:gdLst/>
              <a:ahLst/>
              <a:cxnLst/>
              <a:rect l="l" t="t" r="r" b="b"/>
              <a:pathLst>
                <a:path w="21779739" h="1006628">
                  <a:moveTo>
                    <a:pt x="0" y="0"/>
                  </a:moveTo>
                  <a:lnTo>
                    <a:pt x="21779739" y="0"/>
                  </a:lnTo>
                  <a:lnTo>
                    <a:pt x="21779739" y="1006628"/>
                  </a:lnTo>
                  <a:lnTo>
                    <a:pt x="0" y="1006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1584" b="-371584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779738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3"/>
                </a:lnSpc>
              </a:pPr>
              <a:r>
                <a:rPr lang="en-US" sz="3903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2. Fungsi dan Tujuan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996152" y="283654"/>
            <a:ext cx="1500902" cy="475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 b="1">
                <a:solidFill>
                  <a:srgbClr val="B4D3F4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1289" y="1752419"/>
            <a:ext cx="7677931" cy="544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1"/>
              </a:lnSpc>
            </a:pPr>
            <a:r>
              <a:rPr lang="en-US" sz="3152" b="1">
                <a:solidFill>
                  <a:srgbClr val="1A9791"/>
                </a:solidFill>
                <a:latin typeface="Aptos Bold"/>
                <a:ea typeface="Aptos Bold"/>
                <a:cs typeface="Aptos Bold"/>
                <a:sym typeface="Aptos Bold"/>
              </a:rPr>
              <a:t>Fungsi perulangan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6502" y="2516534"/>
            <a:ext cx="7623067" cy="6085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26303E"/>
                </a:solidFill>
                <a:latin typeface="Aptos"/>
                <a:ea typeface="Aptos"/>
                <a:cs typeface="Aptos"/>
                <a:sym typeface="Aptos"/>
              </a:rPr>
              <a:t>•  Menghindari penulisan kode yang sama berulang-ulang.</a:t>
            </a:r>
          </a:p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26303E"/>
                </a:solidFill>
                <a:latin typeface="Aptos"/>
                <a:ea typeface="Aptos"/>
                <a:cs typeface="Aptos"/>
                <a:sym typeface="Aptos"/>
              </a:rPr>
              <a:t>•  Memproses banyak data dengan pola yang sama.</a:t>
            </a:r>
          </a:p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26303E"/>
                </a:solidFill>
                <a:latin typeface="Aptos"/>
                <a:ea typeface="Aptos"/>
                <a:cs typeface="Aptos"/>
                <a:sym typeface="Aptos"/>
              </a:rPr>
              <a:t>•  Membuat program lebih ringkas dan mudah dirawat.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75956" y="1752419"/>
            <a:ext cx="7677931" cy="544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1"/>
              </a:lnSpc>
            </a:pPr>
            <a:r>
              <a:rPr lang="en-US" sz="3152" b="1">
                <a:solidFill>
                  <a:srgbClr val="2B68B3"/>
                </a:solidFill>
                <a:latin typeface="Aptos Bold"/>
                <a:ea typeface="Aptos Bold"/>
                <a:cs typeface="Aptos Bold"/>
                <a:sym typeface="Aptos Bold"/>
              </a:rPr>
              <a:t>Fungsi pencabangan IF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81169" y="2516534"/>
            <a:ext cx="7485793" cy="6085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26303E"/>
                </a:solidFill>
                <a:latin typeface="Aptos"/>
                <a:ea typeface="Aptos"/>
                <a:cs typeface="Aptos"/>
                <a:sym typeface="Aptos"/>
              </a:rPr>
              <a:t>•  Membuat keputusan berdasarkan kondisi.</a:t>
            </a:r>
          </a:p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26303E"/>
                </a:solidFill>
                <a:latin typeface="Aptos"/>
                <a:ea typeface="Aptos"/>
                <a:cs typeface="Aptos"/>
                <a:sym typeface="Aptos"/>
              </a:rPr>
              <a:t>•  Menentukan tindakan yang berbeda untuk situasi berbeda.</a:t>
            </a:r>
          </a:p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26303E"/>
                </a:solidFill>
                <a:latin typeface="Aptos"/>
                <a:ea typeface="Aptos"/>
                <a:cs typeface="Aptos"/>
                <a:sym typeface="Aptos"/>
              </a:rPr>
              <a:t>•  Contoh: menentukan lulus atau belum lulus.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8123" y="9804683"/>
            <a:ext cx="16600303" cy="22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Perulangan dan Pencabangan IF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11" cy="1125569"/>
            <a:chOff x="0" y="0"/>
            <a:chExt cx="24402415" cy="15007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6264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54971" y="178451"/>
            <a:ext cx="16334804" cy="754971"/>
            <a:chOff x="0" y="0"/>
            <a:chExt cx="21779738" cy="10066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779737" cy="1006602"/>
            </a:xfrm>
            <a:custGeom>
              <a:avLst/>
              <a:gdLst/>
              <a:ahLst/>
              <a:cxnLst/>
              <a:rect l="l" t="t" r="r" b="b"/>
              <a:pathLst>
                <a:path w="21779737" h="1006602">
                  <a:moveTo>
                    <a:pt x="0" y="0"/>
                  </a:moveTo>
                  <a:lnTo>
                    <a:pt x="21779737" y="0"/>
                  </a:lnTo>
                  <a:lnTo>
                    <a:pt x="21779737" y="1006602"/>
                  </a:lnTo>
                  <a:lnTo>
                    <a:pt x="0" y="10066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71300" b="-37130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54971" y="178451"/>
            <a:ext cx="16334804" cy="754971"/>
            <a:chOff x="0" y="0"/>
            <a:chExt cx="21779738" cy="10066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9739" cy="1006628"/>
            </a:xfrm>
            <a:custGeom>
              <a:avLst/>
              <a:gdLst/>
              <a:ahLst/>
              <a:cxnLst/>
              <a:rect l="l" t="t" r="r" b="b"/>
              <a:pathLst>
                <a:path w="21779739" h="1006628">
                  <a:moveTo>
                    <a:pt x="0" y="0"/>
                  </a:moveTo>
                  <a:lnTo>
                    <a:pt x="21779739" y="0"/>
                  </a:lnTo>
                  <a:lnTo>
                    <a:pt x="21779739" y="1006628"/>
                  </a:lnTo>
                  <a:lnTo>
                    <a:pt x="0" y="1006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1584" b="-371584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779738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3"/>
                </a:lnSpc>
              </a:pPr>
              <a:r>
                <a:rPr lang="en-US" sz="3903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3. Sintaks Dasar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996152" y="283654"/>
            <a:ext cx="1500902" cy="475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 b="1">
                <a:solidFill>
                  <a:srgbClr val="B4D3F4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1289" y="1615145"/>
            <a:ext cx="7540657" cy="544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1">
                <a:solidFill>
                  <a:srgbClr val="1A9791"/>
                </a:solidFill>
                <a:latin typeface="Aptos Bold"/>
                <a:ea typeface="Aptos Bold"/>
                <a:cs typeface="Aptos Bold"/>
                <a:sym typeface="Aptos Bold"/>
              </a:rPr>
              <a:t>Perulangan FOR (Python)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7191" y="5458635"/>
            <a:ext cx="7128862" cy="1162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Mengulang 5 kali: nilai i adalah 1, 2, 3, 4, lalu 5.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44593" y="1615145"/>
            <a:ext cx="7540657" cy="544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1">
                <a:solidFill>
                  <a:srgbClr val="2B68B3"/>
                </a:solidFill>
                <a:latin typeface="Aptos Bold"/>
                <a:ea typeface="Aptos Bold"/>
                <a:cs typeface="Aptos Bold"/>
                <a:sym typeface="Aptos Bold"/>
              </a:rPr>
              <a:t>Pencabangan IF (Python)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64288" y="2323585"/>
            <a:ext cx="7769895" cy="289971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2881"/>
              </a:lnSpc>
            </a:pPr>
            <a:r>
              <a:rPr lang="en-US" sz="2400" dirty="0" err="1">
                <a:solidFill>
                  <a:srgbClr val="DDEBF9"/>
                </a:solidFill>
                <a:latin typeface="Consolas"/>
                <a:ea typeface="Consolas"/>
                <a:cs typeface="Consolas"/>
                <a:sym typeface="Consolas"/>
              </a:rPr>
              <a:t>nilai</a:t>
            </a:r>
            <a:r>
              <a:rPr lang="en-US" sz="2400" dirty="0">
                <a:solidFill>
                  <a:srgbClr val="DDEBF9"/>
                </a:solidFill>
                <a:latin typeface="Consolas"/>
                <a:ea typeface="Consolas"/>
                <a:cs typeface="Consolas"/>
                <a:sym typeface="Consolas"/>
              </a:rPr>
              <a:t> = 80</a:t>
            </a:r>
          </a:p>
          <a:p>
            <a:pPr algn="l">
              <a:lnSpc>
                <a:spcPts val="2881"/>
              </a:lnSpc>
            </a:pPr>
            <a:r>
              <a:rPr lang="en-US" sz="2400" dirty="0">
                <a:solidFill>
                  <a:srgbClr val="DDEBF9"/>
                </a:solidFill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en-US" sz="2400" dirty="0" err="1">
                <a:solidFill>
                  <a:srgbClr val="DDEBF9"/>
                </a:solidFill>
                <a:latin typeface="Consolas"/>
                <a:ea typeface="Consolas"/>
                <a:cs typeface="Consolas"/>
                <a:sym typeface="Consolas"/>
              </a:rPr>
              <a:t>nilai</a:t>
            </a:r>
            <a:r>
              <a:rPr lang="en-US" sz="2400" dirty="0">
                <a:solidFill>
                  <a:srgbClr val="DDEBF9"/>
                </a:solidFill>
                <a:latin typeface="Consolas"/>
                <a:ea typeface="Consolas"/>
                <a:cs typeface="Consolas"/>
                <a:sym typeface="Consolas"/>
              </a:rPr>
              <a:t> &gt;= 75:</a:t>
            </a:r>
          </a:p>
          <a:p>
            <a:pPr algn="l">
              <a:lnSpc>
                <a:spcPts val="2881"/>
              </a:lnSpc>
            </a:pPr>
            <a:r>
              <a:rPr lang="en-US" sz="2400" dirty="0">
                <a:solidFill>
                  <a:srgbClr val="DDEBF9"/>
                </a:solidFill>
                <a:latin typeface="Consolas"/>
                <a:ea typeface="Consolas"/>
                <a:cs typeface="Consolas"/>
                <a:sym typeface="Consolas"/>
              </a:rPr>
              <a:t>   print("Lulus")</a:t>
            </a:r>
          </a:p>
          <a:p>
            <a:pPr algn="l">
              <a:lnSpc>
                <a:spcPts val="2881"/>
              </a:lnSpc>
            </a:pPr>
            <a:r>
              <a:rPr lang="en-US" sz="2400" dirty="0">
                <a:solidFill>
                  <a:srgbClr val="DDEBF9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</a:p>
          <a:p>
            <a:pPr algn="l">
              <a:lnSpc>
                <a:spcPts val="2881"/>
              </a:lnSpc>
            </a:pPr>
            <a:r>
              <a:rPr lang="en-US" sz="2400" dirty="0">
                <a:solidFill>
                  <a:srgbClr val="DDEBF9"/>
                </a:solidFill>
                <a:latin typeface="Consolas"/>
                <a:ea typeface="Consolas"/>
                <a:cs typeface="Consolas"/>
                <a:sym typeface="Consolas"/>
              </a:rPr>
              <a:t>    print("Belum lulus")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50495" y="5527262"/>
            <a:ext cx="7128862" cy="1024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Indentasi (spasi di awal baris) menunjukkan perintah yang berada di dalam blok.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8123" y="9804683"/>
            <a:ext cx="16600303" cy="22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Perulangan dan Pencabangan IF  •  5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138218B-055E-09BD-336C-28F88E98D8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191" y="2649276"/>
            <a:ext cx="5176009" cy="196082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672A088-E38C-B724-E9BC-2E632CC157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495" y="2649275"/>
            <a:ext cx="5489505" cy="24942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11" cy="1125569"/>
            <a:chOff x="0" y="0"/>
            <a:chExt cx="24402415" cy="15007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6264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54971" y="178451"/>
            <a:ext cx="16334804" cy="754971"/>
            <a:chOff x="0" y="0"/>
            <a:chExt cx="21779738" cy="10066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779737" cy="1006602"/>
            </a:xfrm>
            <a:custGeom>
              <a:avLst/>
              <a:gdLst/>
              <a:ahLst/>
              <a:cxnLst/>
              <a:rect l="l" t="t" r="r" b="b"/>
              <a:pathLst>
                <a:path w="21779737" h="1006602">
                  <a:moveTo>
                    <a:pt x="0" y="0"/>
                  </a:moveTo>
                  <a:lnTo>
                    <a:pt x="21779737" y="0"/>
                  </a:lnTo>
                  <a:lnTo>
                    <a:pt x="21779737" y="1006602"/>
                  </a:lnTo>
                  <a:lnTo>
                    <a:pt x="0" y="10066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71300" b="-37130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54971" y="178451"/>
            <a:ext cx="16334804" cy="754971"/>
            <a:chOff x="0" y="0"/>
            <a:chExt cx="21779738" cy="10066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9739" cy="1006628"/>
            </a:xfrm>
            <a:custGeom>
              <a:avLst/>
              <a:gdLst/>
              <a:ahLst/>
              <a:cxnLst/>
              <a:rect l="l" t="t" r="r" b="b"/>
              <a:pathLst>
                <a:path w="21779739" h="1006628">
                  <a:moveTo>
                    <a:pt x="0" y="0"/>
                  </a:moveTo>
                  <a:lnTo>
                    <a:pt x="21779739" y="0"/>
                  </a:lnTo>
                  <a:lnTo>
                    <a:pt x="21779739" y="1006628"/>
                  </a:lnTo>
                  <a:lnTo>
                    <a:pt x="0" y="1006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1584" b="-371584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779738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3"/>
                </a:lnSpc>
              </a:pPr>
              <a:r>
                <a:rPr lang="en-US" sz="3903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4. Cara Kerja Perulangan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996152" y="283654"/>
            <a:ext cx="1500902" cy="475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 b="1">
                <a:solidFill>
                  <a:srgbClr val="B4D3F4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647206" y="2127647"/>
            <a:ext cx="1029462" cy="1029462"/>
            <a:chOff x="0" y="0"/>
            <a:chExt cx="1372616" cy="137261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72616" cy="1372616"/>
            </a:xfrm>
            <a:custGeom>
              <a:avLst/>
              <a:gdLst/>
              <a:ahLst/>
              <a:cxnLst/>
              <a:rect l="l" t="t" r="r" b="b"/>
              <a:pathLst>
                <a:path w="1372616" h="1372616">
                  <a:moveTo>
                    <a:pt x="0" y="686308"/>
                  </a:moveTo>
                  <a:cubicBezTo>
                    <a:pt x="0" y="307340"/>
                    <a:pt x="307340" y="0"/>
                    <a:pt x="686308" y="0"/>
                  </a:cubicBezTo>
                  <a:cubicBezTo>
                    <a:pt x="1065276" y="0"/>
                    <a:pt x="1372616" y="307340"/>
                    <a:pt x="1372616" y="686308"/>
                  </a:cubicBezTo>
                  <a:cubicBezTo>
                    <a:pt x="1372616" y="1065276"/>
                    <a:pt x="1065276" y="1372616"/>
                    <a:pt x="686308" y="1372616"/>
                  </a:cubicBezTo>
                  <a:cubicBezTo>
                    <a:pt x="307340" y="1372616"/>
                    <a:pt x="0" y="1065403"/>
                    <a:pt x="0" y="686308"/>
                  </a:cubicBezTo>
                  <a:close/>
                </a:path>
              </a:pathLst>
            </a:custGeom>
            <a:solidFill>
              <a:srgbClr val="1A9791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47206" y="2077641"/>
            <a:ext cx="1029500" cy="1079506"/>
            <a:chOff x="0" y="0"/>
            <a:chExt cx="1372667" cy="143934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72667" cy="1439342"/>
            </a:xfrm>
            <a:custGeom>
              <a:avLst/>
              <a:gdLst/>
              <a:ahLst/>
              <a:cxnLst/>
              <a:rect l="l" t="t" r="r" b="b"/>
              <a:pathLst>
                <a:path w="1372667" h="1439342">
                  <a:moveTo>
                    <a:pt x="0" y="0"/>
                  </a:moveTo>
                  <a:lnTo>
                    <a:pt x="1372667" y="0"/>
                  </a:lnTo>
                  <a:lnTo>
                    <a:pt x="1372667" y="1439342"/>
                  </a:lnTo>
                  <a:lnTo>
                    <a:pt x="0" y="14393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535" r="-84535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1372667" cy="15060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81"/>
                </a:lnSpc>
              </a:pPr>
              <a:r>
                <a:rPr lang="en-US" sz="315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65387" y="3468253"/>
            <a:ext cx="2530412" cy="544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1"/>
              </a:lnSpc>
            </a:pPr>
            <a:r>
              <a:rPr lang="en-US" sz="2400" b="1">
                <a:solidFill>
                  <a:srgbClr val="26303E"/>
                </a:solidFill>
                <a:latin typeface="Aptos Bold"/>
                <a:ea typeface="Aptos Bold"/>
                <a:cs typeface="Aptos Bold"/>
                <a:sym typeface="Aptos Bold"/>
              </a:rPr>
              <a:t>Mulai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5387" y="4154595"/>
            <a:ext cx="2667676" cy="1642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0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Program dijalankan.</a:t>
            </a:r>
          </a:p>
        </p:txBody>
      </p:sp>
      <p:sp>
        <p:nvSpPr>
          <p:cNvPr id="17" name="AutoShape 17"/>
          <p:cNvSpPr/>
          <p:nvPr/>
        </p:nvSpPr>
        <p:spPr>
          <a:xfrm rot="50640">
            <a:off x="2716406" y="2630205"/>
            <a:ext cx="1293295" cy="0"/>
          </a:xfrm>
          <a:prstGeom prst="line">
            <a:avLst/>
          </a:prstGeom>
          <a:ln w="19050" cap="rnd">
            <a:solidFill>
              <a:srgbClr val="2B68B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" name="Group 18"/>
          <p:cNvGrpSpPr/>
          <p:nvPr/>
        </p:nvGrpSpPr>
        <p:grpSpPr>
          <a:xfrm>
            <a:off x="5106343" y="2127647"/>
            <a:ext cx="1029462" cy="1029462"/>
            <a:chOff x="0" y="0"/>
            <a:chExt cx="1372616" cy="137261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72616" cy="1372616"/>
            </a:xfrm>
            <a:custGeom>
              <a:avLst/>
              <a:gdLst/>
              <a:ahLst/>
              <a:cxnLst/>
              <a:rect l="l" t="t" r="r" b="b"/>
              <a:pathLst>
                <a:path w="1372616" h="1372616">
                  <a:moveTo>
                    <a:pt x="0" y="686308"/>
                  </a:moveTo>
                  <a:cubicBezTo>
                    <a:pt x="0" y="307340"/>
                    <a:pt x="307340" y="0"/>
                    <a:pt x="686308" y="0"/>
                  </a:cubicBezTo>
                  <a:cubicBezTo>
                    <a:pt x="1065276" y="0"/>
                    <a:pt x="1372616" y="307340"/>
                    <a:pt x="1372616" y="686308"/>
                  </a:cubicBezTo>
                  <a:cubicBezTo>
                    <a:pt x="1372616" y="1065276"/>
                    <a:pt x="1065276" y="1372616"/>
                    <a:pt x="686308" y="1372616"/>
                  </a:cubicBezTo>
                  <a:cubicBezTo>
                    <a:pt x="307340" y="1372616"/>
                    <a:pt x="0" y="1065403"/>
                    <a:pt x="0" y="686308"/>
                  </a:cubicBezTo>
                  <a:close/>
                </a:path>
              </a:pathLst>
            </a:custGeom>
            <a:solidFill>
              <a:srgbClr val="1A9791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5106343" y="2077641"/>
            <a:ext cx="1029500" cy="1079506"/>
            <a:chOff x="0" y="0"/>
            <a:chExt cx="1372667" cy="143934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72667" cy="1439342"/>
            </a:xfrm>
            <a:custGeom>
              <a:avLst/>
              <a:gdLst/>
              <a:ahLst/>
              <a:cxnLst/>
              <a:rect l="l" t="t" r="r" b="b"/>
              <a:pathLst>
                <a:path w="1372667" h="1439342">
                  <a:moveTo>
                    <a:pt x="0" y="0"/>
                  </a:moveTo>
                  <a:lnTo>
                    <a:pt x="1372667" y="0"/>
                  </a:lnTo>
                  <a:lnTo>
                    <a:pt x="1372667" y="1439342"/>
                  </a:lnTo>
                  <a:lnTo>
                    <a:pt x="0" y="14393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535" r="-84535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1372667" cy="15060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81"/>
                </a:lnSpc>
              </a:pPr>
              <a:r>
                <a:rPr lang="en-US" sz="315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4424524" y="3468253"/>
            <a:ext cx="2530412" cy="544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1"/>
              </a:lnSpc>
            </a:pPr>
            <a:r>
              <a:rPr lang="en-US" sz="2400" b="1">
                <a:solidFill>
                  <a:srgbClr val="26303E"/>
                </a:solidFill>
                <a:latin typeface="Aptos Bold"/>
                <a:ea typeface="Aptos Bold"/>
                <a:cs typeface="Aptos Bold"/>
                <a:sym typeface="Aptos Bold"/>
              </a:rPr>
              <a:t>Atur nilai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24524" y="4154595"/>
            <a:ext cx="2667676" cy="1642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0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Variabel penghitung dimulai.</a:t>
            </a:r>
          </a:p>
        </p:txBody>
      </p:sp>
      <p:sp>
        <p:nvSpPr>
          <p:cNvPr id="25" name="AutoShape 25"/>
          <p:cNvSpPr/>
          <p:nvPr/>
        </p:nvSpPr>
        <p:spPr>
          <a:xfrm rot="50640">
            <a:off x="6175534" y="2630205"/>
            <a:ext cx="1293304" cy="0"/>
          </a:xfrm>
          <a:prstGeom prst="line">
            <a:avLst/>
          </a:prstGeom>
          <a:ln w="19050" cap="rnd">
            <a:solidFill>
              <a:srgbClr val="2B68B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6" name="Group 26"/>
          <p:cNvGrpSpPr/>
          <p:nvPr/>
        </p:nvGrpSpPr>
        <p:grpSpPr>
          <a:xfrm>
            <a:off x="8565480" y="2127647"/>
            <a:ext cx="1029462" cy="1029462"/>
            <a:chOff x="0" y="0"/>
            <a:chExt cx="1372616" cy="137261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72616" cy="1372616"/>
            </a:xfrm>
            <a:custGeom>
              <a:avLst/>
              <a:gdLst/>
              <a:ahLst/>
              <a:cxnLst/>
              <a:rect l="l" t="t" r="r" b="b"/>
              <a:pathLst>
                <a:path w="1372616" h="1372616">
                  <a:moveTo>
                    <a:pt x="0" y="686308"/>
                  </a:moveTo>
                  <a:cubicBezTo>
                    <a:pt x="0" y="307340"/>
                    <a:pt x="307340" y="0"/>
                    <a:pt x="686308" y="0"/>
                  </a:cubicBezTo>
                  <a:cubicBezTo>
                    <a:pt x="1065276" y="0"/>
                    <a:pt x="1372616" y="307340"/>
                    <a:pt x="1372616" y="686308"/>
                  </a:cubicBezTo>
                  <a:cubicBezTo>
                    <a:pt x="1372616" y="1065276"/>
                    <a:pt x="1065276" y="1372616"/>
                    <a:pt x="686308" y="1372616"/>
                  </a:cubicBezTo>
                  <a:cubicBezTo>
                    <a:pt x="307340" y="1372616"/>
                    <a:pt x="0" y="1065403"/>
                    <a:pt x="0" y="686308"/>
                  </a:cubicBezTo>
                  <a:close/>
                </a:path>
              </a:pathLst>
            </a:custGeom>
            <a:solidFill>
              <a:srgbClr val="1A9791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8565480" y="2077641"/>
            <a:ext cx="1029500" cy="1079506"/>
            <a:chOff x="0" y="0"/>
            <a:chExt cx="1372667" cy="143934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372667" cy="1439342"/>
            </a:xfrm>
            <a:custGeom>
              <a:avLst/>
              <a:gdLst/>
              <a:ahLst/>
              <a:cxnLst/>
              <a:rect l="l" t="t" r="r" b="b"/>
              <a:pathLst>
                <a:path w="1372667" h="1439342">
                  <a:moveTo>
                    <a:pt x="0" y="0"/>
                  </a:moveTo>
                  <a:lnTo>
                    <a:pt x="1372667" y="0"/>
                  </a:lnTo>
                  <a:lnTo>
                    <a:pt x="1372667" y="1439342"/>
                  </a:lnTo>
                  <a:lnTo>
                    <a:pt x="0" y="14393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535" r="-84535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66675"/>
              <a:ext cx="1372667" cy="15060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81"/>
                </a:lnSpc>
              </a:pPr>
              <a:r>
                <a:rPr lang="en-US" sz="315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883662" y="3468253"/>
            <a:ext cx="2530412" cy="544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1"/>
              </a:lnSpc>
            </a:pPr>
            <a:r>
              <a:rPr lang="en-US" sz="2400" b="1">
                <a:solidFill>
                  <a:srgbClr val="26303E"/>
                </a:solidFill>
                <a:latin typeface="Aptos Bold"/>
                <a:ea typeface="Aptos Bold"/>
                <a:cs typeface="Aptos Bold"/>
                <a:sym typeface="Aptos Bold"/>
              </a:rPr>
              <a:t>Periksa batas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883662" y="4154595"/>
            <a:ext cx="2667676" cy="1642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0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Apakah masih ada pengulangan?</a:t>
            </a:r>
          </a:p>
        </p:txBody>
      </p:sp>
      <p:sp>
        <p:nvSpPr>
          <p:cNvPr id="33" name="AutoShape 33"/>
          <p:cNvSpPr/>
          <p:nvPr/>
        </p:nvSpPr>
        <p:spPr>
          <a:xfrm rot="50640">
            <a:off x="9634671" y="2630205"/>
            <a:ext cx="1293295" cy="0"/>
          </a:xfrm>
          <a:prstGeom prst="line">
            <a:avLst/>
          </a:prstGeom>
          <a:ln w="19050" cap="rnd">
            <a:solidFill>
              <a:srgbClr val="2B68B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4" name="Group 34"/>
          <p:cNvGrpSpPr/>
          <p:nvPr/>
        </p:nvGrpSpPr>
        <p:grpSpPr>
          <a:xfrm>
            <a:off x="12024608" y="2127647"/>
            <a:ext cx="1029462" cy="1029462"/>
            <a:chOff x="0" y="0"/>
            <a:chExt cx="1372616" cy="137261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372616" cy="1372616"/>
            </a:xfrm>
            <a:custGeom>
              <a:avLst/>
              <a:gdLst/>
              <a:ahLst/>
              <a:cxnLst/>
              <a:rect l="l" t="t" r="r" b="b"/>
              <a:pathLst>
                <a:path w="1372616" h="1372616">
                  <a:moveTo>
                    <a:pt x="0" y="686308"/>
                  </a:moveTo>
                  <a:cubicBezTo>
                    <a:pt x="0" y="307340"/>
                    <a:pt x="307340" y="0"/>
                    <a:pt x="686308" y="0"/>
                  </a:cubicBezTo>
                  <a:cubicBezTo>
                    <a:pt x="1065276" y="0"/>
                    <a:pt x="1372616" y="307340"/>
                    <a:pt x="1372616" y="686308"/>
                  </a:cubicBezTo>
                  <a:cubicBezTo>
                    <a:pt x="1372616" y="1065276"/>
                    <a:pt x="1065276" y="1372616"/>
                    <a:pt x="686308" y="1372616"/>
                  </a:cubicBezTo>
                  <a:cubicBezTo>
                    <a:pt x="307340" y="1372616"/>
                    <a:pt x="0" y="1065403"/>
                    <a:pt x="0" y="686308"/>
                  </a:cubicBezTo>
                  <a:close/>
                </a:path>
              </a:pathLst>
            </a:custGeom>
            <a:solidFill>
              <a:srgbClr val="1A9791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2024608" y="2077641"/>
            <a:ext cx="1029500" cy="1079506"/>
            <a:chOff x="0" y="0"/>
            <a:chExt cx="1372667" cy="143934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372667" cy="1439342"/>
            </a:xfrm>
            <a:custGeom>
              <a:avLst/>
              <a:gdLst/>
              <a:ahLst/>
              <a:cxnLst/>
              <a:rect l="l" t="t" r="r" b="b"/>
              <a:pathLst>
                <a:path w="1372667" h="1439342">
                  <a:moveTo>
                    <a:pt x="0" y="0"/>
                  </a:moveTo>
                  <a:lnTo>
                    <a:pt x="1372667" y="0"/>
                  </a:lnTo>
                  <a:lnTo>
                    <a:pt x="1372667" y="1439342"/>
                  </a:lnTo>
                  <a:lnTo>
                    <a:pt x="0" y="14393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535" r="-84535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66675"/>
              <a:ext cx="1372667" cy="15060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81"/>
                </a:lnSpc>
              </a:pPr>
              <a:r>
                <a:rPr lang="en-US" sz="315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342789" y="3468253"/>
            <a:ext cx="2530412" cy="544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1"/>
              </a:lnSpc>
            </a:pPr>
            <a:r>
              <a:rPr lang="en-US" sz="2400" b="1">
                <a:solidFill>
                  <a:srgbClr val="26303E"/>
                </a:solidFill>
                <a:latin typeface="Aptos Bold"/>
                <a:ea typeface="Aptos Bold"/>
                <a:cs typeface="Aptos Bold"/>
                <a:sym typeface="Aptos Bold"/>
              </a:rPr>
              <a:t>Jalankan perintah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342789" y="4154595"/>
            <a:ext cx="2667676" cy="1642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0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Instruksi di dalam loop dijalankan.</a:t>
            </a:r>
          </a:p>
        </p:txBody>
      </p:sp>
      <p:sp>
        <p:nvSpPr>
          <p:cNvPr id="41" name="AutoShape 41"/>
          <p:cNvSpPr/>
          <p:nvPr/>
        </p:nvSpPr>
        <p:spPr>
          <a:xfrm rot="50640">
            <a:off x="13093808" y="2630205"/>
            <a:ext cx="1293295" cy="0"/>
          </a:xfrm>
          <a:prstGeom prst="line">
            <a:avLst/>
          </a:prstGeom>
          <a:ln w="19050" cap="rnd">
            <a:solidFill>
              <a:srgbClr val="2B68B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2" name="Group 42"/>
          <p:cNvGrpSpPr/>
          <p:nvPr/>
        </p:nvGrpSpPr>
        <p:grpSpPr>
          <a:xfrm>
            <a:off x="15483745" y="2127647"/>
            <a:ext cx="1029462" cy="1029462"/>
            <a:chOff x="0" y="0"/>
            <a:chExt cx="1372616" cy="137261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372616" cy="1372616"/>
            </a:xfrm>
            <a:custGeom>
              <a:avLst/>
              <a:gdLst/>
              <a:ahLst/>
              <a:cxnLst/>
              <a:rect l="l" t="t" r="r" b="b"/>
              <a:pathLst>
                <a:path w="1372616" h="1372616">
                  <a:moveTo>
                    <a:pt x="0" y="686308"/>
                  </a:moveTo>
                  <a:cubicBezTo>
                    <a:pt x="0" y="307340"/>
                    <a:pt x="307340" y="0"/>
                    <a:pt x="686308" y="0"/>
                  </a:cubicBezTo>
                  <a:cubicBezTo>
                    <a:pt x="1065276" y="0"/>
                    <a:pt x="1372616" y="307340"/>
                    <a:pt x="1372616" y="686308"/>
                  </a:cubicBezTo>
                  <a:cubicBezTo>
                    <a:pt x="1372616" y="1065276"/>
                    <a:pt x="1065276" y="1372616"/>
                    <a:pt x="686308" y="1372616"/>
                  </a:cubicBezTo>
                  <a:cubicBezTo>
                    <a:pt x="307340" y="1372616"/>
                    <a:pt x="0" y="1065403"/>
                    <a:pt x="0" y="686308"/>
                  </a:cubicBezTo>
                  <a:close/>
                </a:path>
              </a:pathLst>
            </a:custGeom>
            <a:solidFill>
              <a:srgbClr val="2B68B3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5483745" y="2077641"/>
            <a:ext cx="1029500" cy="1079506"/>
            <a:chOff x="0" y="0"/>
            <a:chExt cx="1372667" cy="143934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372667" cy="1439342"/>
            </a:xfrm>
            <a:custGeom>
              <a:avLst/>
              <a:gdLst/>
              <a:ahLst/>
              <a:cxnLst/>
              <a:rect l="l" t="t" r="r" b="b"/>
              <a:pathLst>
                <a:path w="1372667" h="1439342">
                  <a:moveTo>
                    <a:pt x="0" y="0"/>
                  </a:moveTo>
                  <a:lnTo>
                    <a:pt x="1372667" y="0"/>
                  </a:lnTo>
                  <a:lnTo>
                    <a:pt x="1372667" y="1439342"/>
                  </a:lnTo>
                  <a:lnTo>
                    <a:pt x="0" y="14393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535" r="-84535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66675"/>
              <a:ext cx="1372667" cy="15060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81"/>
                </a:lnSpc>
              </a:pPr>
              <a:r>
                <a:rPr lang="en-US" sz="315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4801926" y="3468253"/>
            <a:ext cx="2530412" cy="544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1"/>
              </a:lnSpc>
            </a:pPr>
            <a:r>
              <a:rPr lang="en-US" sz="2400" b="1">
                <a:solidFill>
                  <a:srgbClr val="26303E"/>
                </a:solidFill>
                <a:latin typeface="Aptos Bold"/>
                <a:ea typeface="Aptos Bold"/>
                <a:cs typeface="Aptos Bold"/>
                <a:sym typeface="Aptos Bold"/>
              </a:rPr>
              <a:t>Lanjut / selesai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801926" y="4154595"/>
            <a:ext cx="2667676" cy="1642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0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Penghitung berubah; berhenti saat batas tercapai.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377191" y="6899939"/>
            <a:ext cx="15502166" cy="1162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1"/>
              </a:lnSpc>
            </a:pPr>
            <a:r>
              <a:rPr lang="en-US" sz="2702" b="1">
                <a:solidFill>
                  <a:srgbClr val="2B68B3"/>
                </a:solidFill>
                <a:latin typeface="Aptos Bold"/>
                <a:ea typeface="Aptos Bold"/>
                <a:cs typeface="Aptos Bold"/>
                <a:sym typeface="Aptos Bold"/>
              </a:rPr>
              <a:t>Contoh: for i in range(1, 6) akan mencetak angka 1–5. Setelah angka 5 diproses, pengulangan berhenti.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28123" y="9804683"/>
            <a:ext cx="16600303" cy="22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Perulangan dan Pencabangan IF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11" cy="1125569"/>
            <a:chOff x="0" y="0"/>
            <a:chExt cx="24402415" cy="15007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6264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54971" y="178451"/>
            <a:ext cx="16334804" cy="754971"/>
            <a:chOff x="0" y="0"/>
            <a:chExt cx="21779738" cy="10066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779737" cy="1006602"/>
            </a:xfrm>
            <a:custGeom>
              <a:avLst/>
              <a:gdLst/>
              <a:ahLst/>
              <a:cxnLst/>
              <a:rect l="l" t="t" r="r" b="b"/>
              <a:pathLst>
                <a:path w="21779737" h="1006602">
                  <a:moveTo>
                    <a:pt x="0" y="0"/>
                  </a:moveTo>
                  <a:lnTo>
                    <a:pt x="21779737" y="0"/>
                  </a:lnTo>
                  <a:lnTo>
                    <a:pt x="21779737" y="1006602"/>
                  </a:lnTo>
                  <a:lnTo>
                    <a:pt x="0" y="10066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71300" b="-37130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54971" y="178451"/>
            <a:ext cx="16334804" cy="754971"/>
            <a:chOff x="0" y="0"/>
            <a:chExt cx="21779738" cy="10066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9739" cy="1006628"/>
            </a:xfrm>
            <a:custGeom>
              <a:avLst/>
              <a:gdLst/>
              <a:ahLst/>
              <a:cxnLst/>
              <a:rect l="l" t="t" r="r" b="b"/>
              <a:pathLst>
                <a:path w="21779739" h="1006628">
                  <a:moveTo>
                    <a:pt x="0" y="0"/>
                  </a:moveTo>
                  <a:lnTo>
                    <a:pt x="21779739" y="0"/>
                  </a:lnTo>
                  <a:lnTo>
                    <a:pt x="21779739" y="1006628"/>
                  </a:lnTo>
                  <a:lnTo>
                    <a:pt x="0" y="1006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1584" b="-371584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779738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3"/>
                </a:lnSpc>
              </a:pPr>
              <a:r>
                <a:rPr lang="en-US" sz="3903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5. Flowchart Perulangan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996152" y="283654"/>
            <a:ext cx="1500902" cy="475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 b="1">
                <a:solidFill>
                  <a:srgbClr val="B4D3F4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18945" y="1488500"/>
            <a:ext cx="3171444" cy="78355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2520"/>
              </a:lnSpc>
            </a:pPr>
            <a:endParaRPr lang="en-US" sz="2100" b="1" dirty="0">
              <a:solidFill>
                <a:srgbClr val="26303E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828123" y="9804683"/>
            <a:ext cx="16600303" cy="22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Perulangan dan Pencabangan IF  •  7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39A45D61-C5DC-1712-F1BE-0ECFA0D178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790700"/>
            <a:ext cx="6858000" cy="78218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11" cy="1125569"/>
            <a:chOff x="0" y="0"/>
            <a:chExt cx="24402415" cy="15007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6264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54971" y="178451"/>
            <a:ext cx="16334804" cy="754971"/>
            <a:chOff x="0" y="0"/>
            <a:chExt cx="21779738" cy="10066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779737" cy="1006602"/>
            </a:xfrm>
            <a:custGeom>
              <a:avLst/>
              <a:gdLst/>
              <a:ahLst/>
              <a:cxnLst/>
              <a:rect l="l" t="t" r="r" b="b"/>
              <a:pathLst>
                <a:path w="21779737" h="1006602">
                  <a:moveTo>
                    <a:pt x="0" y="0"/>
                  </a:moveTo>
                  <a:lnTo>
                    <a:pt x="21779737" y="0"/>
                  </a:lnTo>
                  <a:lnTo>
                    <a:pt x="21779737" y="1006602"/>
                  </a:lnTo>
                  <a:lnTo>
                    <a:pt x="0" y="10066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71300" b="-37130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54971" y="178451"/>
            <a:ext cx="16334804" cy="754971"/>
            <a:chOff x="0" y="0"/>
            <a:chExt cx="21779738" cy="10066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9739" cy="1006628"/>
            </a:xfrm>
            <a:custGeom>
              <a:avLst/>
              <a:gdLst/>
              <a:ahLst/>
              <a:cxnLst/>
              <a:rect l="l" t="t" r="r" b="b"/>
              <a:pathLst>
                <a:path w="21779739" h="1006628">
                  <a:moveTo>
                    <a:pt x="0" y="0"/>
                  </a:moveTo>
                  <a:lnTo>
                    <a:pt x="21779739" y="0"/>
                  </a:lnTo>
                  <a:lnTo>
                    <a:pt x="21779739" y="1006628"/>
                  </a:lnTo>
                  <a:lnTo>
                    <a:pt x="0" y="1006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1584" b="-371584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779738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3"/>
                </a:lnSpc>
              </a:pPr>
              <a:r>
                <a:rPr lang="en-US" sz="3903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6. Pseudocode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996152" y="283654"/>
            <a:ext cx="1500902" cy="475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 b="1">
                <a:solidFill>
                  <a:srgbClr val="B4D3F4"/>
                </a:solidFill>
                <a:latin typeface="Aptos Bold"/>
                <a:ea typeface="Aptos Bold"/>
                <a:cs typeface="Aptos Bold"/>
                <a:sym typeface="Aptos Bold"/>
              </a:rPr>
              <a:t>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1289" y="1615145"/>
            <a:ext cx="7815196" cy="613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1">
                <a:solidFill>
                  <a:srgbClr val="1A9791"/>
                </a:solidFill>
                <a:latin typeface="Aptos Bold"/>
                <a:ea typeface="Aptos Bold"/>
                <a:cs typeface="Aptos Bold"/>
                <a:sym typeface="Aptos Bold"/>
              </a:rPr>
              <a:t>Pseudocode perulangan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90984" y="2309298"/>
            <a:ext cx="7838532" cy="524754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3241"/>
              </a:lnSpc>
            </a:pPr>
            <a:r>
              <a:rPr lang="en-US" sz="2702" dirty="0">
                <a:solidFill>
                  <a:srgbClr val="DDEBF9"/>
                </a:solidFill>
                <a:latin typeface="Consolas"/>
                <a:ea typeface="Consolas"/>
                <a:cs typeface="Consolas"/>
                <a:sym typeface="Consolas"/>
              </a:rPr>
              <a:t>MULAI</a:t>
            </a:r>
          </a:p>
          <a:p>
            <a:pPr algn="l">
              <a:lnSpc>
                <a:spcPts val="3241"/>
              </a:lnSpc>
            </a:pPr>
            <a:r>
              <a:rPr lang="en-US" sz="2702" dirty="0">
                <a:solidFill>
                  <a:srgbClr val="DDEBF9"/>
                </a:solidFill>
                <a:latin typeface="Consolas"/>
                <a:ea typeface="Consolas"/>
                <a:cs typeface="Consolas"/>
                <a:sym typeface="Consolas"/>
              </a:rPr>
              <a:t>    UNTUK </a:t>
            </a:r>
            <a:r>
              <a:rPr lang="en-US" sz="2702" dirty="0" err="1">
                <a:solidFill>
                  <a:srgbClr val="DDEBF9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702" dirty="0">
                <a:solidFill>
                  <a:srgbClr val="DDEBF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702" dirty="0" err="1">
                <a:solidFill>
                  <a:srgbClr val="DDEBF9"/>
                </a:solidFill>
                <a:latin typeface="Consolas"/>
                <a:ea typeface="Consolas"/>
                <a:cs typeface="Consolas"/>
                <a:sym typeface="Consolas"/>
              </a:rPr>
              <a:t>dari</a:t>
            </a:r>
            <a:r>
              <a:rPr lang="en-US" sz="2702" dirty="0">
                <a:solidFill>
                  <a:srgbClr val="DDEBF9"/>
                </a:solidFill>
                <a:latin typeface="Consolas"/>
                <a:ea typeface="Consolas"/>
                <a:cs typeface="Consolas"/>
                <a:sym typeface="Consolas"/>
              </a:rPr>
              <a:t> 1 </a:t>
            </a:r>
            <a:r>
              <a:rPr lang="en-US" sz="2702" dirty="0" err="1">
                <a:solidFill>
                  <a:srgbClr val="DDEBF9"/>
                </a:solidFill>
                <a:latin typeface="Consolas"/>
                <a:ea typeface="Consolas"/>
                <a:cs typeface="Consolas"/>
                <a:sym typeface="Consolas"/>
              </a:rPr>
              <a:t>sampai</a:t>
            </a:r>
            <a:r>
              <a:rPr lang="en-US" sz="2702" dirty="0">
                <a:solidFill>
                  <a:srgbClr val="DDEBF9"/>
                </a:solidFill>
                <a:latin typeface="Consolas"/>
                <a:ea typeface="Consolas"/>
                <a:cs typeface="Consolas"/>
                <a:sym typeface="Consolas"/>
              </a:rPr>
              <a:t> 5</a:t>
            </a:r>
          </a:p>
          <a:p>
            <a:pPr algn="l">
              <a:lnSpc>
                <a:spcPts val="3241"/>
              </a:lnSpc>
            </a:pPr>
            <a:r>
              <a:rPr lang="en-US" sz="2702" dirty="0">
                <a:solidFill>
                  <a:srgbClr val="DDEBF9"/>
                </a:solidFill>
                <a:latin typeface="Consolas"/>
                <a:ea typeface="Consolas"/>
                <a:cs typeface="Consolas"/>
                <a:sym typeface="Consolas"/>
              </a:rPr>
              <a:t>        TAMPILKAN </a:t>
            </a:r>
            <a:r>
              <a:rPr lang="en-US" sz="2702" dirty="0" err="1">
                <a:solidFill>
                  <a:srgbClr val="DDEBF9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endParaRPr lang="en-US" sz="2702" dirty="0">
              <a:solidFill>
                <a:srgbClr val="DDEBF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3241"/>
              </a:lnSpc>
            </a:pPr>
            <a:r>
              <a:rPr lang="en-US" sz="2702" dirty="0">
                <a:solidFill>
                  <a:srgbClr val="DDEBF9"/>
                </a:solidFill>
                <a:latin typeface="Consolas"/>
                <a:ea typeface="Consolas"/>
                <a:cs typeface="Consolas"/>
                <a:sym typeface="Consolas"/>
              </a:rPr>
              <a:t>    SELESAI UUK</a:t>
            </a:r>
          </a:p>
          <a:p>
            <a:pPr algn="l">
              <a:lnSpc>
                <a:spcPts val="3241"/>
              </a:lnSpc>
            </a:pPr>
            <a:r>
              <a:rPr lang="en-US" sz="2702" dirty="0">
                <a:solidFill>
                  <a:srgbClr val="DDEBF9"/>
                </a:solidFill>
                <a:latin typeface="Consolas"/>
                <a:ea typeface="Consolas"/>
                <a:cs typeface="Consolas"/>
                <a:sym typeface="Consolas"/>
              </a:rPr>
              <a:t>SELESAI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44593" y="1615145"/>
            <a:ext cx="7540657" cy="613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1">
                <a:solidFill>
                  <a:srgbClr val="2B68B3"/>
                </a:solidFill>
                <a:latin typeface="Aptos Bold"/>
                <a:ea typeface="Aptos Bold"/>
                <a:cs typeface="Aptos Bold"/>
                <a:sym typeface="Aptos Bold"/>
              </a:rPr>
              <a:t>Pseudocode IF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64288" y="2323585"/>
            <a:ext cx="7838532" cy="523325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2881"/>
              </a:lnSpc>
            </a:pPr>
            <a:r>
              <a:rPr lang="en-US" sz="2400" dirty="0">
                <a:solidFill>
                  <a:srgbClr val="DDEBF9"/>
                </a:solidFill>
                <a:latin typeface="Consolas"/>
                <a:ea typeface="Consolas"/>
                <a:cs typeface="Consolas"/>
                <a:sym typeface="Consolas"/>
              </a:rPr>
              <a:t>MULAI</a:t>
            </a:r>
          </a:p>
          <a:p>
            <a:pPr algn="l">
              <a:lnSpc>
                <a:spcPts val="2881"/>
              </a:lnSpc>
            </a:pPr>
            <a:r>
              <a:rPr lang="en-US" sz="2400" dirty="0">
                <a:solidFill>
                  <a:srgbClr val="DDEBF9"/>
                </a:solidFill>
                <a:latin typeface="Consolas"/>
                <a:ea typeface="Consolas"/>
                <a:cs typeface="Consolas"/>
                <a:sym typeface="Consolas"/>
              </a:rPr>
              <a:t>    INPUT </a:t>
            </a:r>
            <a:r>
              <a:rPr lang="en-US" sz="2400" dirty="0" err="1">
                <a:solidFill>
                  <a:srgbClr val="DDEBF9"/>
                </a:solidFill>
                <a:latin typeface="Consolas"/>
                <a:ea typeface="Consolas"/>
                <a:cs typeface="Consolas"/>
                <a:sym typeface="Consolas"/>
              </a:rPr>
              <a:t>nilai</a:t>
            </a:r>
            <a:endParaRPr lang="en-US" sz="2400" dirty="0">
              <a:solidFill>
                <a:srgbClr val="DDEBF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2881"/>
              </a:lnSpc>
            </a:pPr>
            <a:r>
              <a:rPr lang="en-US" sz="2400" dirty="0">
                <a:solidFill>
                  <a:srgbClr val="DDEBF9"/>
                </a:solidFill>
                <a:latin typeface="Consolas"/>
                <a:ea typeface="Consolas"/>
                <a:cs typeface="Consolas"/>
                <a:sym typeface="Consolas"/>
              </a:rPr>
              <a:t>    JIKA </a:t>
            </a:r>
            <a:r>
              <a:rPr lang="en-US" sz="2400" dirty="0" err="1">
                <a:solidFill>
                  <a:srgbClr val="DDEBF9"/>
                </a:solidFill>
                <a:latin typeface="Consolas"/>
                <a:ea typeface="Consolas"/>
                <a:cs typeface="Consolas"/>
                <a:sym typeface="Consolas"/>
              </a:rPr>
              <a:t>nilai</a:t>
            </a:r>
            <a:r>
              <a:rPr lang="en-US" sz="2400" dirty="0">
                <a:solidFill>
                  <a:srgbClr val="DDEBF9"/>
                </a:solidFill>
                <a:latin typeface="Consolas"/>
                <a:ea typeface="Consolas"/>
                <a:cs typeface="Consolas"/>
                <a:sym typeface="Consolas"/>
              </a:rPr>
              <a:t> &gt;= 75 MAKA</a:t>
            </a:r>
          </a:p>
          <a:p>
            <a:pPr algn="l">
              <a:lnSpc>
                <a:spcPts val="2881"/>
              </a:lnSpc>
            </a:pPr>
            <a:r>
              <a:rPr lang="en-US" sz="2400" dirty="0">
                <a:solidFill>
                  <a:srgbClr val="DDEBF9"/>
                </a:solidFill>
                <a:latin typeface="Consolas"/>
                <a:ea typeface="Consolas"/>
                <a:cs typeface="Consolas"/>
                <a:sym typeface="Consolas"/>
              </a:rPr>
              <a:t>        TAMPILKAN "Lulus"</a:t>
            </a:r>
          </a:p>
          <a:p>
            <a:pPr algn="l">
              <a:lnSpc>
                <a:spcPts val="2881"/>
              </a:lnSpc>
            </a:pPr>
            <a:r>
              <a:rPr lang="en-US" sz="2400" dirty="0">
                <a:solidFill>
                  <a:srgbClr val="DDEBF9"/>
                </a:solidFill>
                <a:latin typeface="Consolas"/>
                <a:ea typeface="Consolas"/>
                <a:cs typeface="Consolas"/>
                <a:sym typeface="Consolas"/>
              </a:rPr>
              <a:t>    JIKA TIDAK</a:t>
            </a:r>
          </a:p>
          <a:p>
            <a:pPr algn="l">
              <a:lnSpc>
                <a:spcPts val="2881"/>
              </a:lnSpc>
            </a:pPr>
            <a:r>
              <a:rPr lang="en-US" sz="2400" dirty="0">
                <a:solidFill>
                  <a:srgbClr val="DDEBF9"/>
                </a:solidFill>
                <a:latin typeface="Consolas"/>
                <a:ea typeface="Consolas"/>
                <a:cs typeface="Consolas"/>
                <a:sym typeface="Consolas"/>
              </a:rPr>
              <a:t>        TAMPILKAN "Belum lulus"</a:t>
            </a:r>
          </a:p>
          <a:p>
            <a:pPr algn="l">
              <a:lnSpc>
                <a:spcPts val="2881"/>
              </a:lnSpc>
            </a:pPr>
            <a:r>
              <a:rPr lang="en-US" sz="2400" dirty="0">
                <a:solidFill>
                  <a:srgbClr val="DDEBF9"/>
                </a:solidFill>
                <a:latin typeface="Consolas"/>
                <a:ea typeface="Consolas"/>
                <a:cs typeface="Consolas"/>
                <a:sym typeface="Consolas"/>
              </a:rPr>
              <a:t>    AKHIR JIKA</a:t>
            </a:r>
          </a:p>
          <a:p>
            <a:pPr algn="l">
              <a:lnSpc>
                <a:spcPts val="2881"/>
              </a:lnSpc>
            </a:pPr>
            <a:r>
              <a:rPr lang="en-US" sz="2400" dirty="0">
                <a:solidFill>
                  <a:srgbClr val="DDEBF9"/>
                </a:solidFill>
                <a:latin typeface="Consolas"/>
                <a:ea typeface="Consolas"/>
                <a:cs typeface="Consolas"/>
                <a:sym typeface="Consolas"/>
              </a:rPr>
              <a:t>SELESAI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08554" y="8066713"/>
            <a:ext cx="15913960" cy="6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0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Pseudocode ditulis dengan bahasa sederhana agar alur logika mudah dipahami sebelum dibuat menjadi kode program.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28123" y="9804683"/>
            <a:ext cx="16600303" cy="22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Perulangan dan Pencabangan IF  •  8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9FBB783-41CA-B7BF-0A46-5593C6F43F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175913"/>
            <a:ext cx="5105400" cy="250098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19C77FE-4460-57CE-3E24-19F728D8BD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3713" y="3157866"/>
            <a:ext cx="5796315" cy="3505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11" cy="1125569"/>
            <a:chOff x="0" y="0"/>
            <a:chExt cx="24402415" cy="15007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6264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54971" y="178451"/>
            <a:ext cx="16334804" cy="754971"/>
            <a:chOff x="0" y="0"/>
            <a:chExt cx="21779738" cy="10066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779737" cy="1006602"/>
            </a:xfrm>
            <a:custGeom>
              <a:avLst/>
              <a:gdLst/>
              <a:ahLst/>
              <a:cxnLst/>
              <a:rect l="l" t="t" r="r" b="b"/>
              <a:pathLst>
                <a:path w="21779737" h="1006602">
                  <a:moveTo>
                    <a:pt x="0" y="0"/>
                  </a:moveTo>
                  <a:lnTo>
                    <a:pt x="21779737" y="0"/>
                  </a:lnTo>
                  <a:lnTo>
                    <a:pt x="21779737" y="1006602"/>
                  </a:lnTo>
                  <a:lnTo>
                    <a:pt x="0" y="10066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71300" b="-37130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54971" y="178451"/>
            <a:ext cx="16334804" cy="754971"/>
            <a:chOff x="0" y="0"/>
            <a:chExt cx="21779738" cy="10066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9739" cy="1006628"/>
            </a:xfrm>
            <a:custGeom>
              <a:avLst/>
              <a:gdLst/>
              <a:ahLst/>
              <a:cxnLst/>
              <a:rect l="l" t="t" r="r" b="b"/>
              <a:pathLst>
                <a:path w="21779739" h="1006628">
                  <a:moveTo>
                    <a:pt x="0" y="0"/>
                  </a:moveTo>
                  <a:lnTo>
                    <a:pt x="21779739" y="0"/>
                  </a:lnTo>
                  <a:lnTo>
                    <a:pt x="21779739" y="1006628"/>
                  </a:lnTo>
                  <a:lnTo>
                    <a:pt x="0" y="1006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1584" b="-371584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779738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3"/>
                </a:lnSpc>
              </a:pPr>
              <a:r>
                <a:rPr lang="en-US" sz="3903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7. Contoh Program Python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996152" y="283654"/>
            <a:ext cx="1500902" cy="475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 b="1">
                <a:solidFill>
                  <a:srgbClr val="B4D3F4"/>
                </a:solidFill>
                <a:latin typeface="Aptos Bold"/>
                <a:ea typeface="Aptos Bold"/>
                <a:cs typeface="Aptos Bold"/>
                <a:sym typeface="Aptos Bold"/>
              </a:rPr>
              <a:t>08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97701" y="2164223"/>
            <a:ext cx="5618921" cy="613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1">
                <a:solidFill>
                  <a:srgbClr val="1A9791"/>
                </a:solidFill>
                <a:latin typeface="Aptos Bold"/>
                <a:ea typeface="Aptos Bold"/>
                <a:cs typeface="Aptos Bold"/>
                <a:sym typeface="Aptos Bold"/>
              </a:rPr>
              <a:t>Hasil program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66328" y="7792174"/>
            <a:ext cx="5618921" cy="750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Karena nilai 80 ≥ 75, hasilnya “Lulus”.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8123" y="9804683"/>
            <a:ext cx="16600303" cy="22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Perulangan dan Pencabangan IF  •  9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3ED92D1-5704-94BE-B9BC-C4DEE4DA2E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35" y="2164223"/>
            <a:ext cx="7680065" cy="487749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E6AAE5C-2A9F-8754-081F-5BAD635151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3086100"/>
            <a:ext cx="9372292" cy="34440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11" cy="1125569"/>
            <a:chOff x="0" y="0"/>
            <a:chExt cx="24402415" cy="15007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6264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54971" y="178451"/>
            <a:ext cx="16334804" cy="754971"/>
            <a:chOff x="0" y="0"/>
            <a:chExt cx="21779738" cy="10066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779737" cy="1006602"/>
            </a:xfrm>
            <a:custGeom>
              <a:avLst/>
              <a:gdLst/>
              <a:ahLst/>
              <a:cxnLst/>
              <a:rect l="l" t="t" r="r" b="b"/>
              <a:pathLst>
                <a:path w="21779737" h="1006602">
                  <a:moveTo>
                    <a:pt x="0" y="0"/>
                  </a:moveTo>
                  <a:lnTo>
                    <a:pt x="21779737" y="0"/>
                  </a:lnTo>
                  <a:lnTo>
                    <a:pt x="21779737" y="1006602"/>
                  </a:lnTo>
                  <a:lnTo>
                    <a:pt x="0" y="10066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71300" b="-37130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54971" y="178451"/>
            <a:ext cx="16334804" cy="754971"/>
            <a:chOff x="0" y="0"/>
            <a:chExt cx="21779738" cy="10066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9739" cy="1006628"/>
            </a:xfrm>
            <a:custGeom>
              <a:avLst/>
              <a:gdLst/>
              <a:ahLst/>
              <a:cxnLst/>
              <a:rect l="l" t="t" r="r" b="b"/>
              <a:pathLst>
                <a:path w="21779739" h="1006628">
                  <a:moveTo>
                    <a:pt x="0" y="0"/>
                  </a:moveTo>
                  <a:lnTo>
                    <a:pt x="21779739" y="0"/>
                  </a:lnTo>
                  <a:lnTo>
                    <a:pt x="21779739" y="1006628"/>
                  </a:lnTo>
                  <a:lnTo>
                    <a:pt x="0" y="1006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1584" b="-371584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779738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3"/>
                </a:lnSpc>
              </a:pPr>
              <a:r>
                <a:rPr lang="en-US" sz="3903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8. Penjelasan Program Baris demi Baris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996152" y="283654"/>
            <a:ext cx="1500902" cy="475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 b="1">
                <a:solidFill>
                  <a:srgbClr val="B4D3F4"/>
                </a:solidFill>
                <a:latin typeface="Aptos Bold"/>
                <a:ea typeface="Aptos Bold"/>
                <a:cs typeface="Aptos Bold"/>
                <a:sym typeface="Aptos Bold"/>
              </a:rPr>
              <a:t>09</a:t>
            </a:r>
          </a:p>
        </p:txBody>
      </p:sp>
      <p:sp>
        <p:nvSpPr>
          <p:cNvPr id="10" name="Freeform 10"/>
          <p:cNvSpPr/>
          <p:nvPr/>
        </p:nvSpPr>
        <p:spPr>
          <a:xfrm>
            <a:off x="879729" y="1566062"/>
            <a:ext cx="16497071" cy="958367"/>
          </a:xfrm>
          <a:custGeom>
            <a:avLst/>
            <a:gdLst/>
            <a:ahLst/>
            <a:cxnLst/>
            <a:rect l="l" t="t" r="r" b="b"/>
            <a:pathLst>
              <a:path w="16497071" h="958367">
                <a:moveTo>
                  <a:pt x="0" y="0"/>
                </a:moveTo>
                <a:lnTo>
                  <a:pt x="16497071" y="0"/>
                </a:lnTo>
                <a:lnTo>
                  <a:pt x="16497071" y="958368"/>
                </a:lnTo>
                <a:lnTo>
                  <a:pt x="0" y="9583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171289" y="1747095"/>
            <a:ext cx="334127" cy="426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2B68B3"/>
                </a:solidFill>
                <a:latin typeface="Aptos Bold"/>
                <a:ea typeface="Aptos Bold"/>
                <a:cs typeface="Aptos Bold"/>
                <a:sym typeface="Aptos Bold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88995" y="1752419"/>
            <a:ext cx="4863951" cy="585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 b="1">
                <a:solidFill>
                  <a:srgbClr val="1A9791"/>
                </a:solidFill>
                <a:latin typeface="Aptos Bold"/>
                <a:ea typeface="Aptos Bold"/>
                <a:cs typeface="Aptos Bold"/>
                <a:sym typeface="Aptos Bold"/>
              </a:rPr>
              <a:t>for i in range(1, 6):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67877" y="1752419"/>
            <a:ext cx="9942843" cy="585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>
                <a:solidFill>
                  <a:srgbClr val="26303E"/>
                </a:solidFill>
                <a:latin typeface="Aptos"/>
                <a:ea typeface="Aptos"/>
                <a:cs typeface="Aptos"/>
                <a:sym typeface="Aptos"/>
              </a:rPr>
              <a:t>Memulai perulangan; i berisi angka 1 sampai 5.</a:t>
            </a:r>
          </a:p>
        </p:txBody>
      </p:sp>
      <p:sp>
        <p:nvSpPr>
          <p:cNvPr id="14" name="Freeform 14"/>
          <p:cNvSpPr/>
          <p:nvPr/>
        </p:nvSpPr>
        <p:spPr>
          <a:xfrm>
            <a:off x="879729" y="2636749"/>
            <a:ext cx="16497071" cy="958367"/>
          </a:xfrm>
          <a:custGeom>
            <a:avLst/>
            <a:gdLst/>
            <a:ahLst/>
            <a:cxnLst/>
            <a:rect l="l" t="t" r="r" b="b"/>
            <a:pathLst>
              <a:path w="16497071" h="958367">
                <a:moveTo>
                  <a:pt x="0" y="0"/>
                </a:moveTo>
                <a:lnTo>
                  <a:pt x="16497071" y="0"/>
                </a:lnTo>
                <a:lnTo>
                  <a:pt x="16497071" y="958367"/>
                </a:lnTo>
                <a:lnTo>
                  <a:pt x="0" y="958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171289" y="2817781"/>
            <a:ext cx="334127" cy="426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2B68B3"/>
                </a:solidFill>
                <a:latin typeface="Aptos Bold"/>
                <a:ea typeface="Aptos Bold"/>
                <a:cs typeface="Aptos Bold"/>
                <a:sym typeface="Aptos Bold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88995" y="2823096"/>
            <a:ext cx="4863951" cy="585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 b="1">
                <a:solidFill>
                  <a:srgbClr val="1A9791"/>
                </a:solidFill>
                <a:latin typeface="Aptos Bold"/>
                <a:ea typeface="Aptos Bold"/>
                <a:cs typeface="Aptos Bold"/>
                <a:sym typeface="Aptos Bold"/>
              </a:rPr>
              <a:t>print("Angka:", i)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67877" y="2823096"/>
            <a:ext cx="9942843" cy="585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>
                <a:solidFill>
                  <a:srgbClr val="26303E"/>
                </a:solidFill>
                <a:latin typeface="Aptos"/>
                <a:ea typeface="Aptos"/>
                <a:cs typeface="Aptos"/>
                <a:sym typeface="Aptos"/>
              </a:rPr>
              <a:t>Menampilkan tulisan Angka: dan nilai i setiap putaran.</a:t>
            </a:r>
          </a:p>
        </p:txBody>
      </p:sp>
      <p:sp>
        <p:nvSpPr>
          <p:cNvPr id="18" name="Freeform 18"/>
          <p:cNvSpPr/>
          <p:nvPr/>
        </p:nvSpPr>
        <p:spPr>
          <a:xfrm>
            <a:off x="879729" y="3707435"/>
            <a:ext cx="16497071" cy="958367"/>
          </a:xfrm>
          <a:custGeom>
            <a:avLst/>
            <a:gdLst/>
            <a:ahLst/>
            <a:cxnLst/>
            <a:rect l="l" t="t" r="r" b="b"/>
            <a:pathLst>
              <a:path w="16497071" h="958367">
                <a:moveTo>
                  <a:pt x="0" y="0"/>
                </a:moveTo>
                <a:lnTo>
                  <a:pt x="16497071" y="0"/>
                </a:lnTo>
                <a:lnTo>
                  <a:pt x="16497071" y="958367"/>
                </a:lnTo>
                <a:lnTo>
                  <a:pt x="0" y="958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171289" y="3888457"/>
            <a:ext cx="334127" cy="426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2B68B3"/>
                </a:solidFill>
                <a:latin typeface="Aptos Bold"/>
                <a:ea typeface="Aptos Bold"/>
                <a:cs typeface="Aptos Bold"/>
                <a:sym typeface="Aptos Bold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88995" y="3893782"/>
            <a:ext cx="4863951" cy="585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 b="1">
                <a:solidFill>
                  <a:srgbClr val="1A9791"/>
                </a:solidFill>
                <a:latin typeface="Aptos Bold"/>
                <a:ea typeface="Aptos Bold"/>
                <a:cs typeface="Aptos Bold"/>
                <a:sym typeface="Aptos Bold"/>
              </a:rPr>
              <a:t>nilai = 80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67877" y="3893782"/>
            <a:ext cx="9942843" cy="585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>
                <a:solidFill>
                  <a:srgbClr val="26303E"/>
                </a:solidFill>
                <a:latin typeface="Aptos"/>
                <a:ea typeface="Aptos"/>
                <a:cs typeface="Aptos"/>
                <a:sym typeface="Aptos"/>
              </a:rPr>
              <a:t>Menyimpan angka 80 ke variabel nilai.</a:t>
            </a:r>
          </a:p>
        </p:txBody>
      </p:sp>
      <p:sp>
        <p:nvSpPr>
          <p:cNvPr id="22" name="Freeform 22"/>
          <p:cNvSpPr/>
          <p:nvPr/>
        </p:nvSpPr>
        <p:spPr>
          <a:xfrm>
            <a:off x="879729" y="4778111"/>
            <a:ext cx="16497071" cy="958367"/>
          </a:xfrm>
          <a:custGeom>
            <a:avLst/>
            <a:gdLst/>
            <a:ahLst/>
            <a:cxnLst/>
            <a:rect l="l" t="t" r="r" b="b"/>
            <a:pathLst>
              <a:path w="16497071" h="958367">
                <a:moveTo>
                  <a:pt x="0" y="0"/>
                </a:moveTo>
                <a:lnTo>
                  <a:pt x="16497071" y="0"/>
                </a:lnTo>
                <a:lnTo>
                  <a:pt x="16497071" y="958368"/>
                </a:lnTo>
                <a:lnTo>
                  <a:pt x="0" y="9583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171289" y="4959144"/>
            <a:ext cx="334127" cy="426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2B68B3"/>
                </a:solidFill>
                <a:latin typeface="Aptos Bold"/>
                <a:ea typeface="Aptos Bold"/>
                <a:cs typeface="Aptos Bold"/>
                <a:sym typeface="Aptos Bold"/>
              </a:rPr>
              <a:t>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88995" y="4964468"/>
            <a:ext cx="4863951" cy="585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 b="1">
                <a:solidFill>
                  <a:srgbClr val="1A9791"/>
                </a:solidFill>
                <a:latin typeface="Aptos Bold"/>
                <a:ea typeface="Aptos Bold"/>
                <a:cs typeface="Aptos Bold"/>
                <a:sym typeface="Aptos Bold"/>
              </a:rPr>
              <a:t>if nilai &gt;= 75: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867877" y="4964468"/>
            <a:ext cx="9942843" cy="585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>
                <a:solidFill>
                  <a:srgbClr val="26303E"/>
                </a:solidFill>
                <a:latin typeface="Aptos"/>
                <a:ea typeface="Aptos"/>
                <a:cs typeface="Aptos"/>
                <a:sym typeface="Aptos"/>
              </a:rPr>
              <a:t>Memeriksa apakah nilai minimal 75.</a:t>
            </a:r>
          </a:p>
        </p:txBody>
      </p:sp>
      <p:sp>
        <p:nvSpPr>
          <p:cNvPr id="26" name="Freeform 26"/>
          <p:cNvSpPr/>
          <p:nvPr/>
        </p:nvSpPr>
        <p:spPr>
          <a:xfrm>
            <a:off x="879729" y="5848798"/>
            <a:ext cx="16497071" cy="958367"/>
          </a:xfrm>
          <a:custGeom>
            <a:avLst/>
            <a:gdLst/>
            <a:ahLst/>
            <a:cxnLst/>
            <a:rect l="l" t="t" r="r" b="b"/>
            <a:pathLst>
              <a:path w="16497071" h="958367">
                <a:moveTo>
                  <a:pt x="0" y="0"/>
                </a:moveTo>
                <a:lnTo>
                  <a:pt x="16497071" y="0"/>
                </a:lnTo>
                <a:lnTo>
                  <a:pt x="16497071" y="958367"/>
                </a:lnTo>
                <a:lnTo>
                  <a:pt x="0" y="958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171289" y="6029830"/>
            <a:ext cx="334127" cy="426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2B68B3"/>
                </a:solidFill>
                <a:latin typeface="Aptos Bold"/>
                <a:ea typeface="Aptos Bold"/>
                <a:cs typeface="Aptos Bold"/>
                <a:sym typeface="Aptos Bold"/>
              </a:rPr>
              <a:t>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88995" y="6035154"/>
            <a:ext cx="4863951" cy="585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 b="1">
                <a:solidFill>
                  <a:srgbClr val="1A9791"/>
                </a:solidFill>
                <a:latin typeface="Aptos Bold"/>
                <a:ea typeface="Aptos Bold"/>
                <a:cs typeface="Aptos Bold"/>
                <a:sym typeface="Aptos Bold"/>
              </a:rPr>
              <a:t>print("Lulus")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867877" y="6035154"/>
            <a:ext cx="9942843" cy="585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>
                <a:solidFill>
                  <a:srgbClr val="26303E"/>
                </a:solidFill>
                <a:latin typeface="Aptos"/>
                <a:ea typeface="Aptos"/>
                <a:cs typeface="Aptos"/>
                <a:sym typeface="Aptos"/>
              </a:rPr>
              <a:t>Dijalankan jika kondisi IF benar.</a:t>
            </a:r>
          </a:p>
        </p:txBody>
      </p:sp>
      <p:sp>
        <p:nvSpPr>
          <p:cNvPr id="30" name="Freeform 30"/>
          <p:cNvSpPr/>
          <p:nvPr/>
        </p:nvSpPr>
        <p:spPr>
          <a:xfrm>
            <a:off x="879729" y="6919484"/>
            <a:ext cx="16497071" cy="958367"/>
          </a:xfrm>
          <a:custGeom>
            <a:avLst/>
            <a:gdLst/>
            <a:ahLst/>
            <a:cxnLst/>
            <a:rect l="l" t="t" r="r" b="b"/>
            <a:pathLst>
              <a:path w="16497071" h="958367">
                <a:moveTo>
                  <a:pt x="0" y="0"/>
                </a:moveTo>
                <a:lnTo>
                  <a:pt x="16497071" y="0"/>
                </a:lnTo>
                <a:lnTo>
                  <a:pt x="16497071" y="958367"/>
                </a:lnTo>
                <a:lnTo>
                  <a:pt x="0" y="958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171289" y="7100516"/>
            <a:ext cx="334127" cy="426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2B68B3"/>
                </a:solidFill>
                <a:latin typeface="Aptos Bold"/>
                <a:ea typeface="Aptos Bold"/>
                <a:cs typeface="Aptos Bold"/>
                <a:sym typeface="Aptos Bold"/>
              </a:rPr>
              <a:t>6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788995" y="7105840"/>
            <a:ext cx="4863951" cy="585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 b="1">
                <a:solidFill>
                  <a:srgbClr val="1A9791"/>
                </a:solidFill>
                <a:latin typeface="Aptos Bold"/>
                <a:ea typeface="Aptos Bold"/>
                <a:cs typeface="Aptos Bold"/>
                <a:sym typeface="Aptos Bold"/>
              </a:rPr>
              <a:t>else: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867877" y="7105840"/>
            <a:ext cx="9942843" cy="585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>
                <a:solidFill>
                  <a:srgbClr val="26303E"/>
                </a:solidFill>
                <a:latin typeface="Aptos"/>
                <a:ea typeface="Aptos"/>
                <a:cs typeface="Aptos"/>
                <a:sym typeface="Aptos"/>
              </a:rPr>
              <a:t>Menandai pilihan jika kondisi IF salah.</a:t>
            </a:r>
          </a:p>
        </p:txBody>
      </p:sp>
      <p:sp>
        <p:nvSpPr>
          <p:cNvPr id="34" name="Freeform 34"/>
          <p:cNvSpPr/>
          <p:nvPr/>
        </p:nvSpPr>
        <p:spPr>
          <a:xfrm>
            <a:off x="879729" y="7990170"/>
            <a:ext cx="16497071" cy="958367"/>
          </a:xfrm>
          <a:custGeom>
            <a:avLst/>
            <a:gdLst/>
            <a:ahLst/>
            <a:cxnLst/>
            <a:rect l="l" t="t" r="r" b="b"/>
            <a:pathLst>
              <a:path w="16497071" h="958367">
                <a:moveTo>
                  <a:pt x="0" y="0"/>
                </a:moveTo>
                <a:lnTo>
                  <a:pt x="16497071" y="0"/>
                </a:lnTo>
                <a:lnTo>
                  <a:pt x="16497071" y="958367"/>
                </a:lnTo>
                <a:lnTo>
                  <a:pt x="0" y="958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1171289" y="8171202"/>
            <a:ext cx="334127" cy="426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2B68B3"/>
                </a:solidFill>
                <a:latin typeface="Aptos Bold"/>
                <a:ea typeface="Aptos Bold"/>
                <a:cs typeface="Aptos Bold"/>
                <a:sym typeface="Aptos Bold"/>
              </a:rPr>
              <a:t>7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788995" y="8176527"/>
            <a:ext cx="4863951" cy="585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 b="1">
                <a:solidFill>
                  <a:srgbClr val="1A9791"/>
                </a:solidFill>
                <a:latin typeface="Aptos Bold"/>
                <a:ea typeface="Aptos Bold"/>
                <a:cs typeface="Aptos Bold"/>
                <a:sym typeface="Aptos Bold"/>
              </a:rPr>
              <a:t>print("Belum lulus")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867877" y="8176527"/>
            <a:ext cx="9942843" cy="585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>
                <a:solidFill>
                  <a:srgbClr val="26303E"/>
                </a:solidFill>
                <a:latin typeface="Aptos"/>
                <a:ea typeface="Aptos"/>
                <a:cs typeface="Aptos"/>
                <a:sym typeface="Aptos"/>
              </a:rPr>
              <a:t>Dijalankan jika nilai kurang dari 75.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28123" y="9804683"/>
            <a:ext cx="16600303" cy="22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Perulangan dan Pencabangan IF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11" cy="1125569"/>
            <a:chOff x="0" y="0"/>
            <a:chExt cx="24402415" cy="15007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6264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54971" y="178451"/>
            <a:ext cx="16334804" cy="754971"/>
            <a:chOff x="0" y="0"/>
            <a:chExt cx="21779738" cy="10066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779737" cy="1006602"/>
            </a:xfrm>
            <a:custGeom>
              <a:avLst/>
              <a:gdLst/>
              <a:ahLst/>
              <a:cxnLst/>
              <a:rect l="l" t="t" r="r" b="b"/>
              <a:pathLst>
                <a:path w="21779737" h="1006602">
                  <a:moveTo>
                    <a:pt x="0" y="0"/>
                  </a:moveTo>
                  <a:lnTo>
                    <a:pt x="21779737" y="0"/>
                  </a:lnTo>
                  <a:lnTo>
                    <a:pt x="21779737" y="1006602"/>
                  </a:lnTo>
                  <a:lnTo>
                    <a:pt x="0" y="10066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71300" b="-37130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54971" y="178451"/>
            <a:ext cx="16334804" cy="754971"/>
            <a:chOff x="0" y="0"/>
            <a:chExt cx="21779738" cy="10066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9739" cy="1006628"/>
            </a:xfrm>
            <a:custGeom>
              <a:avLst/>
              <a:gdLst/>
              <a:ahLst/>
              <a:cxnLst/>
              <a:rect l="l" t="t" r="r" b="b"/>
              <a:pathLst>
                <a:path w="21779739" h="1006628">
                  <a:moveTo>
                    <a:pt x="0" y="0"/>
                  </a:moveTo>
                  <a:lnTo>
                    <a:pt x="21779739" y="0"/>
                  </a:lnTo>
                  <a:lnTo>
                    <a:pt x="21779739" y="1006628"/>
                  </a:lnTo>
                  <a:lnTo>
                    <a:pt x="0" y="1006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1584" b="-371584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779738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3"/>
                </a:lnSpc>
              </a:pPr>
              <a:r>
                <a:rPr lang="en-US" sz="3903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Jenis Perulangan dan Bentuk IF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996152" y="283654"/>
            <a:ext cx="1500902" cy="475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 b="1">
                <a:solidFill>
                  <a:srgbClr val="B4D3F4"/>
                </a:solidFill>
                <a:latin typeface="Aptos Bold"/>
                <a:ea typeface="Aptos Bold"/>
                <a:cs typeface="Aptos Bold"/>
                <a:sym typeface="Aptos Bold"/>
              </a:rPr>
              <a:t>10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1289" y="1683782"/>
            <a:ext cx="7540657" cy="613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1">
                <a:solidFill>
                  <a:srgbClr val="1A9791"/>
                </a:solidFill>
                <a:latin typeface="Aptos Bold"/>
                <a:ea typeface="Aptos Bold"/>
                <a:cs typeface="Aptos Bold"/>
                <a:sym typeface="Aptos Bold"/>
              </a:rPr>
              <a:t>Jenis perulangan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6502" y="2516534"/>
            <a:ext cx="7485793" cy="4850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26303E"/>
                </a:solidFill>
                <a:latin typeface="Aptos"/>
                <a:ea typeface="Aptos"/>
                <a:cs typeface="Aptos"/>
                <a:sym typeface="Aptos"/>
              </a:rPr>
              <a:t>•  for: cocok jika jumlah pengulangan diketahui atau memakai urutan data.</a:t>
            </a:r>
          </a:p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26303E"/>
                </a:solidFill>
                <a:latin typeface="Aptos"/>
                <a:ea typeface="Aptos"/>
                <a:cs typeface="Aptos"/>
                <a:sym typeface="Aptos"/>
              </a:rPr>
              <a:t>•  while: mengulang selama kondisi bernilai benar; pastikan kondisi akhirnya berhenti.</a:t>
            </a:r>
          </a:p>
        </p:txBody>
      </p:sp>
      <p:sp>
        <p:nvSpPr>
          <p:cNvPr id="12" name="Freeform 12"/>
          <p:cNvSpPr/>
          <p:nvPr/>
        </p:nvSpPr>
        <p:spPr>
          <a:xfrm>
            <a:off x="990600" y="6919484"/>
            <a:ext cx="7506043" cy="1466336"/>
          </a:xfrm>
          <a:custGeom>
            <a:avLst/>
            <a:gdLst/>
            <a:ahLst/>
            <a:cxnLst/>
            <a:rect l="l" t="t" r="r" b="b"/>
            <a:pathLst>
              <a:path w="7506043" h="1466336">
                <a:moveTo>
                  <a:pt x="0" y="0"/>
                </a:moveTo>
                <a:lnTo>
                  <a:pt x="7506043" y="0"/>
                </a:lnTo>
                <a:lnTo>
                  <a:pt x="7506043" y="1466336"/>
                </a:lnTo>
                <a:lnTo>
                  <a:pt x="0" y="1466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115597" y="5449847"/>
            <a:ext cx="7608026" cy="2930601"/>
            <a:chOff x="-150215" y="-1909517"/>
            <a:chExt cx="10144035" cy="3907468"/>
          </a:xfrm>
        </p:grpSpPr>
        <p:sp>
          <p:nvSpPr>
            <p:cNvPr id="14" name="Freeform 14"/>
            <p:cNvSpPr/>
            <p:nvPr/>
          </p:nvSpPr>
          <p:spPr>
            <a:xfrm>
              <a:off x="-150215" y="-1909517"/>
              <a:ext cx="9993820" cy="1997951"/>
            </a:xfrm>
            <a:custGeom>
              <a:avLst/>
              <a:gdLst/>
              <a:ahLst/>
              <a:cxnLst/>
              <a:rect l="l" t="t" r="r" b="b"/>
              <a:pathLst>
                <a:path w="9993820" h="1997951">
                  <a:moveTo>
                    <a:pt x="0" y="0"/>
                  </a:moveTo>
                  <a:lnTo>
                    <a:pt x="9993820" y="0"/>
                  </a:lnTo>
                  <a:lnTo>
                    <a:pt x="9993820" y="1997951"/>
                  </a:lnTo>
                  <a:lnTo>
                    <a:pt x="0" y="19979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64" b="-47464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9993820" cy="20551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0" dirty="0">
                  <a:solidFill>
                    <a:srgbClr val="DDEBF9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onsolas"/>
                </a:rPr>
                <a:t>while </a:t>
              </a:r>
              <a:r>
                <a:rPr lang="en-US" sz="2250" dirty="0" err="1">
                  <a:solidFill>
                    <a:srgbClr val="DDEBF9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onsolas"/>
                </a:rPr>
                <a:t>kondisi</a:t>
              </a:r>
              <a:r>
                <a:rPr lang="en-US" sz="2250" dirty="0">
                  <a:solidFill>
                    <a:srgbClr val="DDEBF9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onsolas"/>
                </a:rPr>
                <a:t>:</a:t>
              </a:r>
            </a:p>
            <a:p>
              <a:pPr algn="l">
                <a:lnSpc>
                  <a:spcPts val="2702"/>
                </a:lnSpc>
              </a:pPr>
              <a:r>
                <a:rPr lang="en-US" sz="2250" dirty="0">
                  <a:solidFill>
                    <a:srgbClr val="DDEBF9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onsolas"/>
                </a:rPr>
                <a:t>    </a:t>
              </a:r>
              <a:r>
                <a:rPr lang="id-ID" sz="2250" dirty="0">
                  <a:solidFill>
                    <a:srgbClr val="DDEBF9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onsolas"/>
                </a:rPr>
                <a:t># perintah</a:t>
              </a:r>
              <a:endParaRPr lang="en-US" sz="2250" dirty="0">
                <a:solidFill>
                  <a:srgbClr val="DDEBF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onsolas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544593" y="1683782"/>
            <a:ext cx="7540657" cy="613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1">
                <a:solidFill>
                  <a:srgbClr val="2B68B3"/>
                </a:solidFill>
                <a:latin typeface="Aptos Bold"/>
                <a:ea typeface="Aptos Bold"/>
                <a:cs typeface="Aptos Bold"/>
                <a:sym typeface="Aptos Bold"/>
              </a:rPr>
              <a:t>Bentuk IF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49797" y="2516534"/>
            <a:ext cx="7417165" cy="4850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26303E"/>
                </a:solidFill>
                <a:latin typeface="Aptos"/>
                <a:ea typeface="Aptos"/>
                <a:cs typeface="Aptos"/>
                <a:sym typeface="Aptos"/>
              </a:rPr>
              <a:t>•  if: menjalankan perintah saat kondisi benar.</a:t>
            </a:r>
          </a:p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26303E"/>
                </a:solidFill>
                <a:latin typeface="Aptos"/>
                <a:ea typeface="Aptos"/>
                <a:cs typeface="Aptos"/>
                <a:sym typeface="Aptos"/>
              </a:rPr>
              <a:t>•  if-else: memilih antara dua kemungkinan.</a:t>
            </a:r>
          </a:p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26303E"/>
                </a:solidFill>
                <a:latin typeface="Aptos"/>
                <a:ea typeface="Aptos"/>
                <a:cs typeface="Aptos"/>
                <a:sym typeface="Aptos"/>
              </a:rPr>
              <a:t>•  if-elif-else: memeriksa beberapa kondisi secara berurutan.</a:t>
            </a:r>
          </a:p>
        </p:txBody>
      </p:sp>
      <p:sp>
        <p:nvSpPr>
          <p:cNvPr id="18" name="Freeform 18"/>
          <p:cNvSpPr/>
          <p:nvPr/>
        </p:nvSpPr>
        <p:spPr>
          <a:xfrm>
            <a:off x="9596199" y="6919484"/>
            <a:ext cx="7368788" cy="1466336"/>
          </a:xfrm>
          <a:custGeom>
            <a:avLst/>
            <a:gdLst/>
            <a:ahLst/>
            <a:cxnLst/>
            <a:rect l="l" t="t" r="r" b="b"/>
            <a:pathLst>
              <a:path w="7368788" h="1466336">
                <a:moveTo>
                  <a:pt x="0" y="0"/>
                </a:moveTo>
                <a:lnTo>
                  <a:pt x="7368788" y="0"/>
                </a:lnTo>
                <a:lnTo>
                  <a:pt x="7368788" y="1466336"/>
                </a:lnTo>
                <a:lnTo>
                  <a:pt x="0" y="1466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9601562" y="6881984"/>
            <a:ext cx="7358101" cy="1498463"/>
            <a:chOff x="0" y="0"/>
            <a:chExt cx="9810801" cy="199795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810801" cy="1997951"/>
            </a:xfrm>
            <a:custGeom>
              <a:avLst/>
              <a:gdLst/>
              <a:ahLst/>
              <a:cxnLst/>
              <a:rect l="l" t="t" r="r" b="b"/>
              <a:pathLst>
                <a:path w="9810801" h="1997951">
                  <a:moveTo>
                    <a:pt x="0" y="0"/>
                  </a:moveTo>
                  <a:lnTo>
                    <a:pt x="9810801" y="0"/>
                  </a:lnTo>
                  <a:lnTo>
                    <a:pt x="9810801" y="1997951"/>
                  </a:lnTo>
                  <a:lnTo>
                    <a:pt x="0" y="19979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679" b="-45679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9810801" cy="20551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0" dirty="0">
                  <a:solidFill>
                    <a:srgbClr val="DDEBF9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onsolas"/>
                </a:rPr>
                <a:t>if </a:t>
              </a:r>
              <a:r>
                <a:rPr lang="en-US" sz="2250" dirty="0" err="1">
                  <a:solidFill>
                    <a:srgbClr val="DDEBF9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onsolas"/>
                </a:rPr>
                <a:t>kondisi</a:t>
              </a:r>
              <a:r>
                <a:rPr lang="en-US" sz="2250" dirty="0">
                  <a:solidFill>
                    <a:srgbClr val="DDEBF9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onsolas"/>
                </a:rPr>
                <a:t>:</a:t>
              </a:r>
            </a:p>
            <a:p>
              <a:pPr algn="l">
                <a:lnSpc>
                  <a:spcPts val="2702"/>
                </a:lnSpc>
              </a:pPr>
              <a:r>
                <a:rPr lang="en-US" sz="2250" dirty="0">
                  <a:solidFill>
                    <a:srgbClr val="DDEBF9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onsolas"/>
                </a:rPr>
                <a:t>    # </a:t>
              </a:r>
              <a:r>
                <a:rPr lang="en-US" sz="2250" dirty="0" err="1">
                  <a:solidFill>
                    <a:srgbClr val="DDEBF9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onsolas"/>
                </a:rPr>
                <a:t>perintah</a:t>
              </a:r>
              <a:endParaRPr lang="en-US" sz="2250" dirty="0">
                <a:solidFill>
                  <a:srgbClr val="DDEBF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onsolas"/>
              </a:endParaR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828123" y="9804683"/>
            <a:ext cx="16600303" cy="22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Perulangan dan Pencabangan IF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6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71289" y="1203350"/>
            <a:ext cx="15639431" cy="956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Kesimpulan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82404" y="2653798"/>
            <a:ext cx="15035498" cy="4712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•  Perulangan membantu menjalankan instruksi berkali-kali secara efisien.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•  IF memungkinkan program mengambil keputusan berdasarkan kondisi.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•  Flowchart dan pseudocode membantu merancang logika sebelum menulis kode.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•  Memahami setiap baris program membuat kita lebih mudah menemukan kesalahan.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45828" y="8066713"/>
            <a:ext cx="14678558" cy="88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1">
                <a:solidFill>
                  <a:srgbClr val="71DCD3"/>
                </a:solidFill>
                <a:latin typeface="Aptos Bold"/>
                <a:ea typeface="Aptos Bold"/>
                <a:cs typeface="Aptos Bold"/>
                <a:sym typeface="Aptos Bold"/>
              </a:rPr>
              <a:t>Terima kasih — Ada pertanyaan?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45828" y="9439380"/>
            <a:ext cx="14266755" cy="270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0">
                <a:solidFill>
                  <a:srgbClr val="BED3EC"/>
                </a:solidFill>
                <a:latin typeface="Aptos"/>
                <a:ea typeface="Aptos"/>
                <a:cs typeface="Aptos"/>
                <a:sym typeface="Aptos"/>
              </a:rPr>
              <a:t>Sumber belajar: materi dasar pemrograman Python.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741</Words>
  <Application>Microsoft Office PowerPoint</Application>
  <PresentationFormat>Custom</PresentationFormat>
  <Paragraphs>139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Consolas</vt:lpstr>
      <vt:lpstr>Calibri</vt:lpstr>
      <vt:lpstr>Aptos Bold</vt:lpstr>
      <vt:lpstr>Arial</vt:lpstr>
      <vt:lpstr>Calibri (MS) Bold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DOC-20261015-WA0030.pptx</dc:title>
  <cp:lastModifiedBy>Lenovo Slim 3</cp:lastModifiedBy>
  <cp:revision>2</cp:revision>
  <dcterms:created xsi:type="dcterms:W3CDTF">2006-08-16T00:00:00Z</dcterms:created>
  <dcterms:modified xsi:type="dcterms:W3CDTF">2026-10-24T16:30:13Z</dcterms:modified>
  <dc:identifier>DAHYwDEH7Q0</dc:identifier>
</cp:coreProperties>
</file>